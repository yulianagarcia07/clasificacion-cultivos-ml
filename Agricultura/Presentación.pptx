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4" r:id="rId9"/>
    <p:sldId id="266" r:id="rId10"/>
    <p:sldId id="267" r:id="rId11"/>
    <p:sldId id="268" r:id="rId12"/>
    <p:sldId id="272" r:id="rId13"/>
  </p:sldIdLst>
  <p:sldSz cx="12192000" cy="6858000"/>
  <p:notesSz cx="6858000" cy="12192000"/>
  <p:embeddedFontLst>
    <p:embeddedFont>
      <p:font typeface="Fraunces" panose="020B0604020202020204" charset="0"/>
      <p:regular r:id="rId15"/>
      <p:bold r:id="rId16"/>
    </p:embeddedFont>
    <p:embeddedFont>
      <p:font typeface="Inter" panose="020B0604020202020204" charset="0"/>
      <p:regular r:id="rId17"/>
      <p:bold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6490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Somos Luis, Karen y Milena, y hoy os presentamos nuestro proyecto final: un sistema de recomendación de cultivos basado en machine learning. En los próximos veinte minutos os contaremos qué problema queríamos resolver, cómo lo abordamos, qué resultados obtuvimos y, al final, os enseñaremos la aplicación funcionando en directo. (30 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temporada, un agricultor decide qué sembrar, y esa decisión condiciona todo su año. [clic] Cada cultivo necesita unas condiciones concretas de suelo, nutrientes y clima. [clic] Pero normalmente se decide por experiencia, tradición o imitando a los vecinos. [clic] Si el cultivo no encaja con la parcela, el rendimiento cae y se pierde la inversión en semillas, fertilizantes y riego. (1:30, junto con la siguiente)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(pausa) Así que la pregunta que nos planteamos fue esta: dadas las condiciones de una parcela, ¿qué cultivo tiene más probabilidades de funcionar? Deja la pregunta en pantalla dos segundos antes de avanzar.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Nuestro objetivo fue construir un modelo que recomiende el cultivo más adecuado entre 22 opciones, y convertirlo en una herramienta que cualquiera pueda usar sin programar. Técnicamente es un problema de clasificación multiclase: el modelo recibe las características de una parcela y la asigna a una sola categoría. Para organizar el trabajo seguimos CRISP-DM, la metodología estándar en ciencia de datos: negocio, datos, preparación, modelado, evaluación y despliegue. La presentación sigue ese orden; la barra inferior indica en qué fase estamos. Herramientas: Python con pandas, scikit-learn y Streamlit. (1:00)</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 entender los datos. Trabajamos con el Crop Recommendation Dataset, publicado en Kaggle: 2.200 parcelas, 7 variables y 22 cultivos. Las variables se dividen en dos grupos: las del suelo (nitrógeno, fósforo y potasio, los tres nutrientes principales, y el pH) y las del clima (temperatura, humedad y lluvia). La variable que queremos predecir es el cultivo. A partir de estos ejemplos, el modelo aprende qué condiciones corresponden a cada cultivo. (1:30)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analizar nada revisamos la calidad, como revisar los ingredientes antes de cocinar. Cero nulos, cero duplicados y exactamente cien parcelas por cultivo. [clic] Este último punto es clave: si tuviéramos 900 parcelas de arroz y 30 de trigo, el modelo aprendería muy bien el arroz y casi nada el trigo, y la accuracy dejaría de ser fiable, porque un modelo que dijera siempre arroz acertaría el 90 % sin servir para nada. Nuestro dataset está equilibrado, así que ese problema no existe. (1:00)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Después hicimos el análisis exploratorio. Esta tabla es el perfil medio de cada cultivo: cada fila es un cultivo, cada columna una variable, y cada número la media de sus cien parcelas. Mostramos 8 de los 22 para que se lea bien. El color se calcula por columna: verde oscuro es el valor más alto de esa variable y claro el más bajo. Fijaos en la lluvia del arroz, el fósforo y el potasio de uva y manzana, y la humedad del garbanzo y la judía roja. La conclusión: cada cultivo tiene un perfil muy diferenciado, así que esperábamos que un modelo pudiera distinguirlos bien. (1:15, junto con la siguiente)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 la preparación y el modelado. [clic] Primero separamos las pistas, las 7 variables, de la respuesta, el cultivo. [clic] Después dividimos: con el 80 %, unas 1.760 parcelas, el modelo aprende; el 20 % restante, 440 parcelas, lo guardamos como examen final, datos que nunca ve durante el entrenamiento. Así comprobamos que aprende y no solo memoriza. [clic] Entrenamos tres modelos, que vemos en la siguiente diapositiva. [clic] Y evaluamos con validación cruzada de cinco particiones: repetimos el examen cinco veces con trozos distintos y calculamos la media, para que el resultado no dependa de la suerte. [clic] La división fue estratificada: misma proporción de cada cultivo en ambos grupos. (1:15)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llegamos a los resultados. El baseline, el que responde al azar, acierta un 4,5 %. El árbol de decisión sube hasta el 97,7 %. Y el Random Forest alcanza un 99,5 % de acierto en validación cruzada. (pausa) Además de acertar más, el Random Forest es más estable: su resultado apenas varía entre las cinco particiones. Por eso lo elegimos como modelo final. (1:00)</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matriz de confusión, la hoja de corrección del examen. Las filas son el cultivo real y las columnas lo que predijo el modelo; cada cuadradito es una combinación de cultivos. Todo lo que cae en la diagonal son aciertos. Como veis, la diagonal está completa y no hay nada fuera de ella: en el examen final, con las 440 parcelas que nunca había visto, el modelo acertó todas. (45 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modelo no solo tiene que acertar: hay que entender por qué decide lo que decide. Este gráfico muestra la importancia de cada variable. Las dos primeras son la lluvia y la humedad, que juntas suman el 45 %: la disponibilidad de agua es lo que más diferencia a unos cultivos de otros. Conecta con lo que vimos en el análisis exploratorio: arroz y coco en un extremo, garbanzo y melón en el otro. En cambio, el pH es la variable que menos aporta, porque casi todos los cultivos toleran un rango parecido, entre 5,7 y 7,3. (pausa) Que el modelo coincida con la lógica agronómica nos da confianza en que ha aprendido patrones reales. (1:15)</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Quedamos a vuestra disposición para cualquier pregunta. Responde en dos o tres frases y termina con un dato. Si preguntan por la profundidad del árbol, avanza a la diapositiva de anexo.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53164"/>
            <a:ext cx="10566400" cy="493713"/>
          </a:xfrm>
          <a:prstGeom prst="rect">
            <a:avLst/>
          </a:prstGeom>
          <a:noFill/>
          <a:ln/>
        </p:spPr>
        <p:txBody>
          <a:bodyPr wrap="square" lIns="0" tIns="0" rIns="0" bIns="0" rtlCol="0" anchor="t"/>
          <a:lstStyle>
            <a:lvl1pPr marL="0" indent="0" algn="l">
              <a:lnSpc>
                <a:spcPct val="115000"/>
              </a:lnSpc>
              <a:buNone/>
              <a:defRPr lang="en-US" sz="3600" dirty="0">
                <a:solidFill>
                  <a:srgbClr val="1C2620"/>
                </a:solidFill>
                <a:latin typeface="Fraunces" pitchFamily="34" charset="0"/>
                <a:ea typeface="Fraunces" pitchFamily="34" charset="-122"/>
                <a:cs typeface="Fraunce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51676"/>
            <a:ext cx="10566400" cy="4093524"/>
          </a:xfrm>
          <a:prstGeom prst="rect">
            <a:avLst/>
          </a:prstGeom>
          <a:noFill/>
          <a:ln/>
        </p:spPr>
        <p:txBody>
          <a:bodyPr wrap="square" lIns="0" tIns="0" rIns="0" bIns="0" rtlCol="0" anchor="t"/>
          <a:lstStyle>
            <a:lvl1pPr marL="0" indent="0" algn="l">
              <a:lnSpc>
                <a:spcPct val="140000"/>
              </a:lnSpc>
              <a:buNone/>
              <a:defRPr lang="en-US" sz="1600" dirty="0">
                <a:solidFill>
                  <a:srgbClr val="1C2620"/>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53164"/>
            <a:ext cx="10566400" cy="493713"/>
          </a:xfrm>
          <a:prstGeom prst="rect">
            <a:avLst/>
          </a:prstGeom>
          <a:noFill/>
          <a:ln/>
        </p:spPr>
        <p:txBody>
          <a:bodyPr wrap="square" lIns="0" tIns="0" rIns="0" bIns="0" rtlCol="0" anchor="t"/>
          <a:lstStyle>
            <a:lvl1pPr marL="0" indent="0" algn="l">
              <a:lnSpc>
                <a:spcPct val="115000"/>
              </a:lnSpc>
              <a:buNone/>
              <a:defRPr lang="en-US" sz="3600" dirty="0">
                <a:solidFill>
                  <a:srgbClr val="1C2620"/>
                </a:solidFill>
                <a:latin typeface="Fraunces" pitchFamily="34" charset="0"/>
                <a:ea typeface="Fraunces" pitchFamily="34" charset="-122"/>
                <a:cs typeface="Fraunce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51676"/>
            <a:ext cx="10566400" cy="4093524"/>
          </a:xfrm>
          <a:prstGeom prst="rect">
            <a:avLst/>
          </a:prstGeom>
          <a:noFill/>
          <a:ln/>
        </p:spPr>
        <p:txBody>
          <a:bodyPr wrap="square" lIns="0" tIns="0" rIns="0" bIns="0" rtlCol="0" anchor="t"/>
          <a:lstStyle>
            <a:lvl1pPr marL="0" indent="0" algn="l">
              <a:lnSpc>
                <a:spcPct val="140000"/>
              </a:lnSpc>
              <a:buNone/>
              <a:defRPr lang="en-US" sz="1600" dirty="0">
                <a:solidFill>
                  <a:srgbClr val="1C2620"/>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2C"/>
        </a:solidFill>
        <a:effectLst/>
      </p:bgPr>
    </p:bg>
    <p:spTree>
      <p:nvGrpSpPr>
        <p:cNvPr id="1" name=""/>
        <p:cNvGrpSpPr/>
        <p:nvPr/>
      </p:nvGrpSpPr>
      <p:grpSpPr>
        <a:xfrm>
          <a:off x="0" y="0"/>
          <a:ext cx="0" cy="0"/>
          <a:chOff x="0" y="0"/>
          <a:chExt cx="0" cy="0"/>
        </a:xfrm>
      </p:grpSpPr>
      <p:sp>
        <p:nvSpPr>
          <p:cNvPr id="2" name="Shape 0"/>
          <p:cNvSpPr/>
          <p:nvPr/>
        </p:nvSpPr>
        <p:spPr>
          <a:xfrm>
            <a:off x="7493000" y="0"/>
            <a:ext cx="4699000" cy="6858000"/>
          </a:xfrm>
          <a:prstGeom prst="rect">
            <a:avLst/>
          </a:prstGeom>
          <a:gradFill rotWithShape="1">
            <a:gsLst>
              <a:gs pos="0">
                <a:srgbClr val="24452F"/>
              </a:gs>
              <a:gs pos="50000">
                <a:srgbClr val="24452F"/>
              </a:gs>
              <a:gs pos="50000">
                <a:srgbClr val="1E3A2C"/>
              </a:gs>
              <a:gs pos="100000">
                <a:srgbClr val="1E3A2C"/>
              </a:gs>
            </a:gsLst>
            <a:lin ang="2700000" scaled="0"/>
          </a:gradFill>
          <a:ln/>
        </p:spPr>
        <p:txBody>
          <a:bodyPr/>
          <a:lstStyle/>
          <a:p>
            <a:endParaRPr lang="es-CO"/>
          </a:p>
        </p:txBody>
      </p:sp>
      <p:sp>
        <p:nvSpPr>
          <p:cNvPr id="3" name="Shape 1"/>
          <p:cNvSpPr/>
          <p:nvPr/>
        </p:nvSpPr>
        <p:spPr>
          <a:xfrm>
            <a:off x="7493000" y="4826000"/>
            <a:ext cx="4699000" cy="2032000"/>
          </a:xfrm>
          <a:prstGeom prst="rect">
            <a:avLst/>
          </a:prstGeom>
          <a:gradFill rotWithShape="1">
            <a:gsLst>
              <a:gs pos="0">
                <a:srgbClr val="7DB55A">
                  <a:alpha val="90000"/>
                </a:srgbClr>
              </a:gs>
              <a:gs pos="100000">
                <a:srgbClr val="4E8A3A">
                  <a:alpha val="90000"/>
                </a:srgbClr>
              </a:gs>
            </a:gsLst>
            <a:lin ang="5400000" scaled="0"/>
          </a:gradFill>
          <a:ln/>
        </p:spPr>
        <p:txBody>
          <a:bodyPr/>
          <a:lstStyle/>
          <a:p>
            <a:endParaRPr lang="es-CO"/>
          </a:p>
        </p:txBody>
      </p:sp>
      <p:pic>
        <p:nvPicPr>
          <p:cNvPr id="4" name="Image 0" descr="ellipse"/>
          <p:cNvPicPr>
            <a:picLocks noChangeAspect="1"/>
          </p:cNvPicPr>
          <p:nvPr/>
        </p:nvPicPr>
        <p:blipFill>
          <a:blip r:embed="rId3"/>
          <a:srcRect/>
          <a:stretch/>
        </p:blipFill>
        <p:spPr>
          <a:xfrm>
            <a:off x="9017000" y="952500"/>
            <a:ext cx="1651000" cy="1651000"/>
          </a:xfrm>
          <a:prstGeom prst="rect">
            <a:avLst/>
          </a:prstGeom>
        </p:spPr>
      </p:pic>
      <p:sp>
        <p:nvSpPr>
          <p:cNvPr id="5" name="Text 2"/>
          <p:cNvSpPr/>
          <p:nvPr/>
        </p:nvSpPr>
        <p:spPr>
          <a:xfrm>
            <a:off x="812800" y="1587500"/>
            <a:ext cx="6540500"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E3A33B"/>
                </a:solidFill>
                <a:latin typeface="Inter" pitchFamily="34" charset="0"/>
                <a:ea typeface="Inter" pitchFamily="34" charset="-122"/>
                <a:cs typeface="Inter" pitchFamily="34" charset="-120"/>
              </a:rPr>
              <a:t>PROYECTO FINAL · MACHINE LEARNING</a:t>
            </a:r>
            <a:endParaRPr lang="en-US" sz="1200" dirty="0"/>
          </a:p>
        </p:txBody>
      </p:sp>
      <p:sp>
        <p:nvSpPr>
          <p:cNvPr id="6" name="Text 3"/>
          <p:cNvSpPr>
            <a:spLocks noGrp="1"/>
          </p:cNvSpPr>
          <p:nvPr>
            <p:ph type="title"/>
          </p:nvPr>
        </p:nvSpPr>
        <p:spPr>
          <a:xfrm>
            <a:off x="812800" y="1905000"/>
            <a:ext cx="6540500" cy="1579880"/>
          </a:xfrm>
          <a:prstGeom prst="rect">
            <a:avLst/>
          </a:prstGeom>
          <a:noFill/>
          <a:ln/>
        </p:spPr>
        <p:txBody>
          <a:bodyPr wrap="square" lIns="0" tIns="0" rIns="0" bIns="0" rtlCol="0" anchor="t">
            <a:normAutofit/>
          </a:bodyPr>
          <a:lstStyle/>
          <a:p>
            <a:pPr marL="0" indent="0" algn="l">
              <a:lnSpc>
                <a:spcPts val="6120"/>
              </a:lnSpc>
              <a:buNone/>
            </a:pPr>
            <a:r>
              <a:rPr lang="en-US" sz="6000" b="1" i="0" dirty="0">
                <a:solidFill>
                  <a:srgbClr val="F5F2EA"/>
                </a:solidFill>
                <a:latin typeface="Fraunces" pitchFamily="18" charset="0"/>
                <a:ea typeface="Fraunces" pitchFamily="18" charset="-122"/>
                <a:cs typeface="Fraunces" pitchFamily="18" charset="-120"/>
              </a:rPr>
              <a:t>Recomendador de cultivos</a:t>
            </a:r>
            <a:endParaRPr lang="en-US" sz="6000" dirty="0"/>
          </a:p>
        </p:txBody>
      </p:sp>
      <p:sp>
        <p:nvSpPr>
          <p:cNvPr id="7" name="Text 4"/>
          <p:cNvSpPr/>
          <p:nvPr/>
        </p:nvSpPr>
        <p:spPr>
          <a:xfrm>
            <a:off x="812800" y="3683000"/>
            <a:ext cx="6540500" cy="360680"/>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B9C7BB"/>
                </a:solidFill>
                <a:latin typeface="Inter" pitchFamily="34" charset="0"/>
                <a:ea typeface="Inter" pitchFamily="34" charset="-122"/>
                <a:cs typeface="Inter" pitchFamily="34" charset="-120"/>
              </a:rPr>
              <a:t>Clasificación multiclase con Random Forest</a:t>
            </a:r>
            <a:endParaRPr lang="en-US" sz="2200" dirty="0"/>
          </a:p>
        </p:txBody>
      </p:sp>
      <p:sp>
        <p:nvSpPr>
          <p:cNvPr id="8" name="Shape 5"/>
          <p:cNvSpPr/>
          <p:nvPr/>
        </p:nvSpPr>
        <p:spPr>
          <a:xfrm>
            <a:off x="812800" y="4699000"/>
            <a:ext cx="762000" cy="38100"/>
          </a:xfrm>
          <a:prstGeom prst="rect">
            <a:avLst/>
          </a:prstGeom>
          <a:solidFill>
            <a:srgbClr val="E3A33B"/>
          </a:solidFill>
          <a:ln/>
        </p:spPr>
        <p:txBody>
          <a:bodyPr/>
          <a:lstStyle/>
          <a:p>
            <a:endParaRPr lang="es-CO"/>
          </a:p>
        </p:txBody>
      </p:sp>
      <p:sp>
        <p:nvSpPr>
          <p:cNvPr id="9" name="Text 6"/>
          <p:cNvSpPr/>
          <p:nvPr/>
        </p:nvSpPr>
        <p:spPr>
          <a:xfrm>
            <a:off x="812800" y="4953000"/>
            <a:ext cx="65405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F2EA"/>
                </a:solidFill>
                <a:latin typeface="Inter" pitchFamily="34" charset="0"/>
                <a:ea typeface="Inter" pitchFamily="34" charset="-122"/>
                <a:cs typeface="Inter" pitchFamily="34" charset="-120"/>
              </a:rPr>
              <a:t>Luis · Karen · Milena</a:t>
            </a:r>
            <a:endParaRPr lang="en-US" sz="1600" dirty="0"/>
          </a:p>
        </p:txBody>
      </p:sp>
      <p:sp>
        <p:nvSpPr>
          <p:cNvPr id="10" name="Text 7"/>
          <p:cNvSpPr/>
          <p:nvPr/>
        </p:nvSpPr>
        <p:spPr>
          <a:xfrm>
            <a:off x="812800" y="5283200"/>
            <a:ext cx="65405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7BB"/>
                </a:solidFill>
                <a:latin typeface="Inter" pitchFamily="34" charset="0"/>
                <a:ea typeface="Inter" pitchFamily="34" charset="-122"/>
                <a:cs typeface="Inter" pitchFamily="34" charset="-120"/>
              </a:rPr>
              <a:t>Fundación Somos F5 · [Fecha]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9A5B0B"/>
                </a:solidFill>
                <a:latin typeface="Inter" pitchFamily="34" charset="0"/>
                <a:ea typeface="Inter" pitchFamily="34" charset="-122"/>
                <a:cs typeface="Inter" pitchFamily="34" charset="-120"/>
              </a:rPr>
              <a:t>EL PROBLEMA</a:t>
            </a:r>
            <a:endParaRPr lang="en-US" sz="1200" dirty="0"/>
          </a:p>
        </p:txBody>
      </p:sp>
      <p:sp>
        <p:nvSpPr>
          <p:cNvPr id="3" name="Text 1"/>
          <p:cNvSpPr>
            <a:spLocks noGrp="1"/>
          </p:cNvSpPr>
          <p:nvPr>
            <p:ph type="title"/>
          </p:nvPr>
        </p:nvSpPr>
        <p:spPr>
          <a:xfrm>
            <a:off x="812800" y="1153160"/>
            <a:ext cx="10883392" cy="519113"/>
          </a:xfrm>
          <a:prstGeom prst="rect">
            <a:avLst/>
          </a:prstGeom>
          <a:noFill/>
          <a:ln/>
        </p:spPr>
        <p:txBody>
          <a:bodyPr wrap="square" lIns="0" tIns="0" rIns="0" bIns="0" rtlCol="0" anchor="t">
            <a:normAutofit/>
          </a:bodyPr>
          <a:lstStyle/>
          <a:p>
            <a:pPr marL="0" indent="0" algn="l">
              <a:lnSpc>
                <a:spcPts val="3888"/>
              </a:lnSpc>
              <a:buNone/>
            </a:pPr>
            <a:r>
              <a:rPr lang="en-US" sz="3600" b="1" i="0" dirty="0">
                <a:solidFill>
                  <a:srgbClr val="1C2620"/>
                </a:solidFill>
                <a:latin typeface="Fraunces" pitchFamily="18" charset="0"/>
                <a:ea typeface="Fraunces" pitchFamily="18" charset="-122"/>
                <a:cs typeface="Fraunces" pitchFamily="18" charset="-120"/>
              </a:rPr>
              <a:t>Elegir mal el cultivo cuesta una cosecha entera</a:t>
            </a:r>
            <a:endParaRPr lang="en-US" sz="3600" dirty="0"/>
          </a:p>
        </p:txBody>
      </p:sp>
      <p:sp>
        <p:nvSpPr>
          <p:cNvPr id="4" name="Shape 2"/>
          <p:cNvSpPr/>
          <p:nvPr/>
        </p:nvSpPr>
        <p:spPr>
          <a:xfrm>
            <a:off x="819150" y="2990850"/>
            <a:ext cx="3289300" cy="2694940"/>
          </a:xfrm>
          <a:prstGeom prst="roundRect">
            <a:avLst>
              <a:gd name="adj" fmla="val 5419"/>
            </a:avLst>
          </a:prstGeom>
          <a:solidFill>
            <a:srgbClr val="FFFDF7"/>
          </a:solidFill>
          <a:ln w="12700">
            <a:solidFill>
              <a:srgbClr val="E9E5D8"/>
            </a:solidFill>
            <a:prstDash val="solid"/>
          </a:ln>
        </p:spPr>
        <p:txBody>
          <a:bodyPr/>
          <a:lstStyle/>
          <a:p>
            <a:endParaRPr lang="es-CO"/>
          </a:p>
        </p:txBody>
      </p:sp>
      <p:pic>
        <p:nvPicPr>
          <p:cNvPr id="5" name="Image 0" descr="Settings"/>
          <p:cNvPicPr>
            <a:picLocks noChangeAspect="1"/>
          </p:cNvPicPr>
          <p:nvPr/>
        </p:nvPicPr>
        <p:blipFill>
          <a:blip r:embed="rId3"/>
          <a:srcRect/>
          <a:stretch/>
        </p:blipFill>
        <p:spPr>
          <a:xfrm>
            <a:off x="1127760" y="3299460"/>
            <a:ext cx="355600" cy="355600"/>
          </a:xfrm>
          <a:prstGeom prst="rect">
            <a:avLst/>
          </a:prstGeom>
        </p:spPr>
      </p:pic>
      <p:sp>
        <p:nvSpPr>
          <p:cNvPr id="6" name="Text 3"/>
          <p:cNvSpPr/>
          <p:nvPr/>
        </p:nvSpPr>
        <p:spPr>
          <a:xfrm>
            <a:off x="1127760" y="3782060"/>
            <a:ext cx="2752243" cy="64008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1C2620"/>
                </a:solidFill>
                <a:latin typeface="Fraunces" pitchFamily="18" charset="0"/>
                <a:ea typeface="Fraunces" pitchFamily="18" charset="-122"/>
                <a:cs typeface="Fraunces" pitchFamily="18" charset="-120"/>
              </a:rPr>
              <a:t>Cada cultivo es exigente</a:t>
            </a:r>
            <a:endParaRPr lang="en-US" sz="2200" dirty="0"/>
          </a:p>
        </p:txBody>
      </p:sp>
      <p:sp>
        <p:nvSpPr>
          <p:cNvPr id="7" name="Text 4"/>
          <p:cNvSpPr/>
          <p:nvPr/>
        </p:nvSpPr>
        <p:spPr>
          <a:xfrm>
            <a:off x="1127760" y="4523740"/>
            <a:ext cx="2752243"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E6B61"/>
                </a:solidFill>
                <a:latin typeface="Inter" pitchFamily="34" charset="0"/>
                <a:ea typeface="Inter" pitchFamily="34" charset="-122"/>
                <a:cs typeface="Inter" pitchFamily="34" charset="-120"/>
              </a:rPr>
              <a:t>Necesita un suelo, unos nutrientes y un clima concretos.</a:t>
            </a:r>
            <a:endParaRPr lang="en-US" sz="1600" dirty="0"/>
          </a:p>
        </p:txBody>
      </p:sp>
      <p:sp>
        <p:nvSpPr>
          <p:cNvPr id="8" name="Shape 5"/>
          <p:cNvSpPr/>
          <p:nvPr/>
        </p:nvSpPr>
        <p:spPr>
          <a:xfrm>
            <a:off x="4451350" y="2990850"/>
            <a:ext cx="3289300" cy="2410460"/>
          </a:xfrm>
          <a:prstGeom prst="roundRect">
            <a:avLst>
              <a:gd name="adj" fmla="val 6059"/>
            </a:avLst>
          </a:prstGeom>
          <a:solidFill>
            <a:srgbClr val="FFFDF7"/>
          </a:solidFill>
          <a:ln w="12700">
            <a:solidFill>
              <a:srgbClr val="E9E5D8"/>
            </a:solidFill>
            <a:prstDash val="solid"/>
          </a:ln>
        </p:spPr>
        <p:txBody>
          <a:bodyPr/>
          <a:lstStyle/>
          <a:p>
            <a:endParaRPr lang="es-CO"/>
          </a:p>
        </p:txBody>
      </p:sp>
      <p:pic>
        <p:nvPicPr>
          <p:cNvPr id="9" name="Image 1" descr="Users"/>
          <p:cNvPicPr>
            <a:picLocks noChangeAspect="1"/>
          </p:cNvPicPr>
          <p:nvPr/>
        </p:nvPicPr>
        <p:blipFill>
          <a:blip r:embed="rId4"/>
          <a:srcRect/>
          <a:stretch/>
        </p:blipFill>
        <p:spPr>
          <a:xfrm>
            <a:off x="4759960" y="3299460"/>
            <a:ext cx="355600" cy="355600"/>
          </a:xfrm>
          <a:prstGeom prst="rect">
            <a:avLst/>
          </a:prstGeom>
        </p:spPr>
      </p:pic>
      <p:sp>
        <p:nvSpPr>
          <p:cNvPr id="10" name="Text 6"/>
          <p:cNvSpPr/>
          <p:nvPr/>
        </p:nvSpPr>
        <p:spPr>
          <a:xfrm>
            <a:off x="4759960" y="3782060"/>
            <a:ext cx="2752243" cy="64008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1C2620"/>
                </a:solidFill>
                <a:latin typeface="Fraunces" pitchFamily="18" charset="0"/>
                <a:ea typeface="Fraunces" pitchFamily="18" charset="-122"/>
                <a:cs typeface="Fraunces" pitchFamily="18" charset="-120"/>
              </a:rPr>
              <a:t>Se decide por intuición</a:t>
            </a:r>
            <a:endParaRPr lang="en-US" sz="2200" dirty="0"/>
          </a:p>
        </p:txBody>
      </p:sp>
      <p:sp>
        <p:nvSpPr>
          <p:cNvPr id="11" name="Text 7"/>
          <p:cNvSpPr/>
          <p:nvPr/>
        </p:nvSpPr>
        <p:spPr>
          <a:xfrm>
            <a:off x="4759960" y="4523740"/>
            <a:ext cx="2752243"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E6B61"/>
                </a:solidFill>
                <a:latin typeface="Inter" pitchFamily="34" charset="0"/>
                <a:ea typeface="Inter" pitchFamily="34" charset="-122"/>
                <a:cs typeface="Inter" pitchFamily="34" charset="-120"/>
              </a:rPr>
              <a:t>Experiencia, tradición o lo que siembran los vecinos.</a:t>
            </a:r>
            <a:endParaRPr lang="en-US" sz="1600" dirty="0"/>
          </a:p>
        </p:txBody>
      </p:sp>
      <p:sp>
        <p:nvSpPr>
          <p:cNvPr id="12" name="Shape 8"/>
          <p:cNvSpPr/>
          <p:nvPr/>
        </p:nvSpPr>
        <p:spPr>
          <a:xfrm>
            <a:off x="8083550" y="2990850"/>
            <a:ext cx="3289300" cy="2387600"/>
          </a:xfrm>
          <a:prstGeom prst="roundRect">
            <a:avLst>
              <a:gd name="adj" fmla="val 6117"/>
            </a:avLst>
          </a:prstGeom>
          <a:solidFill>
            <a:srgbClr val="FFFDF7"/>
          </a:solidFill>
          <a:ln w="12700">
            <a:solidFill>
              <a:srgbClr val="E9E5D8"/>
            </a:solidFill>
            <a:prstDash val="solid"/>
          </a:ln>
        </p:spPr>
        <p:txBody>
          <a:bodyPr/>
          <a:lstStyle/>
          <a:p>
            <a:endParaRPr lang="es-CO"/>
          </a:p>
        </p:txBody>
      </p:sp>
      <p:pic>
        <p:nvPicPr>
          <p:cNvPr id="13" name="Image 2" descr="Warning"/>
          <p:cNvPicPr>
            <a:picLocks noChangeAspect="1"/>
          </p:cNvPicPr>
          <p:nvPr/>
        </p:nvPicPr>
        <p:blipFill>
          <a:blip r:embed="rId5"/>
          <a:srcRect/>
          <a:stretch/>
        </p:blipFill>
        <p:spPr>
          <a:xfrm>
            <a:off x="8392160" y="3299460"/>
            <a:ext cx="355600" cy="355600"/>
          </a:xfrm>
          <a:prstGeom prst="rect">
            <a:avLst/>
          </a:prstGeom>
        </p:spPr>
      </p:pic>
      <p:sp>
        <p:nvSpPr>
          <p:cNvPr id="14" name="Text 9"/>
          <p:cNvSpPr/>
          <p:nvPr/>
        </p:nvSpPr>
        <p:spPr>
          <a:xfrm>
            <a:off x="8392160" y="3782060"/>
            <a:ext cx="2752243" cy="33274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1C2620"/>
                </a:solidFill>
                <a:latin typeface="Fraunces" pitchFamily="18" charset="0"/>
                <a:ea typeface="Fraunces" pitchFamily="18" charset="-122"/>
                <a:cs typeface="Fraunces" pitchFamily="18" charset="-120"/>
              </a:rPr>
              <a:t>El error sale caro</a:t>
            </a:r>
            <a:endParaRPr lang="en-US" sz="2200" dirty="0"/>
          </a:p>
        </p:txBody>
      </p:sp>
      <p:sp>
        <p:nvSpPr>
          <p:cNvPr id="15" name="Text 10"/>
          <p:cNvSpPr/>
          <p:nvPr/>
        </p:nvSpPr>
        <p:spPr>
          <a:xfrm>
            <a:off x="8392160" y="4216400"/>
            <a:ext cx="2752243"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E6B61"/>
                </a:solidFill>
                <a:latin typeface="Inter" pitchFamily="34" charset="0"/>
                <a:ea typeface="Inter" pitchFamily="34" charset="-122"/>
                <a:cs typeface="Inter" pitchFamily="34" charset="-120"/>
              </a:rPr>
              <a:t>Semillas, fertilizante y riego perdidos en una temporada.</a:t>
            </a:r>
            <a:endParaRPr lang="en-US" sz="1600" dirty="0"/>
          </a:p>
        </p:txBody>
      </p:sp>
      <p:sp>
        <p:nvSpPr>
          <p:cNvPr id="16" name="Text 11"/>
          <p:cNvSpPr/>
          <p:nvPr/>
        </p:nvSpPr>
        <p:spPr>
          <a:xfrm>
            <a:off x="812800" y="6230620"/>
            <a:ext cx="886817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E3A2C"/>
                </a:solidFill>
                <a:latin typeface="Inter" pitchFamily="34" charset="0"/>
                <a:ea typeface="Inter" pitchFamily="34" charset="-122"/>
                <a:cs typeface="Inter" pitchFamily="34" charset="-120"/>
              </a:rPr>
              <a:t>NEGOCIO</a:t>
            </a:r>
            <a:r>
              <a:rPr lang="en-US" sz="1200" kern="0" spc="100" dirty="0">
                <a:solidFill>
                  <a:srgbClr val="6E7B71"/>
                </a:solidFill>
                <a:latin typeface="Inter" pitchFamily="34" charset="0"/>
                <a:ea typeface="Inter" pitchFamily="34" charset="-122"/>
                <a:cs typeface="Inter" pitchFamily="34" charset="-120"/>
              </a:rPr>
              <a:t>   ·   DATOS   ·   PREPARACIÓN   ·   MODELADO   ·   EVALUACIÓN   ·   DESPLIEGUE</a:t>
            </a:r>
            <a:endParaRPr lang="en-US" sz="1200" dirty="0"/>
          </a:p>
        </p:txBody>
      </p:sp>
      <p:sp>
        <p:nvSpPr>
          <p:cNvPr id="17" name="Text 12"/>
          <p:cNvSpPr/>
          <p:nvPr/>
        </p:nvSpPr>
        <p:spPr>
          <a:xfrm>
            <a:off x="10795984" y="6230620"/>
            <a:ext cx="58321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E7B71"/>
                </a:solidFill>
                <a:latin typeface="Inter" pitchFamily="34" charset="0"/>
                <a:ea typeface="Inter" pitchFamily="34" charset="-122"/>
                <a:cs typeface="Inter" pitchFamily="34" charset="-120"/>
              </a:rPr>
              <a:t>02 / 18</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3A33B"/>
        </a:solidFill>
        <a:effectLst/>
      </p:bgPr>
    </p:bg>
    <p:spTree>
      <p:nvGrpSpPr>
        <p:cNvPr id="1" name=""/>
        <p:cNvGrpSpPr/>
        <p:nvPr/>
      </p:nvGrpSpPr>
      <p:grpSpPr>
        <a:xfrm>
          <a:off x="0" y="0"/>
          <a:ext cx="0" cy="0"/>
          <a:chOff x="0" y="0"/>
          <a:chExt cx="0" cy="0"/>
        </a:xfrm>
      </p:grpSpPr>
      <p:sp>
        <p:nvSpPr>
          <p:cNvPr id="2" name="Text 0"/>
          <p:cNvSpPr/>
          <p:nvPr/>
        </p:nvSpPr>
        <p:spPr>
          <a:xfrm>
            <a:off x="654304" y="1651000"/>
            <a:ext cx="10883392" cy="238760"/>
          </a:xfrm>
          <a:prstGeom prst="rect">
            <a:avLst/>
          </a:prstGeom>
          <a:noFill/>
          <a:ln/>
        </p:spPr>
        <p:txBody>
          <a:bodyPr wrap="square" lIns="0" tIns="0" rIns="0" bIns="0" rtlCol="0" anchor="t">
            <a:normAutofit/>
          </a:bodyPr>
          <a:lstStyle/>
          <a:p>
            <a:pPr marL="0" indent="0" algn="ctr">
              <a:lnSpc>
                <a:spcPts val="1680"/>
              </a:lnSpc>
              <a:buNone/>
            </a:pPr>
            <a:r>
              <a:rPr lang="en-US" sz="1200" b="1" kern="0" spc="200" dirty="0">
                <a:solidFill>
                  <a:srgbClr val="1E3A2C"/>
                </a:solidFill>
                <a:latin typeface="Inter" pitchFamily="34" charset="0"/>
                <a:ea typeface="Inter" pitchFamily="34" charset="-122"/>
                <a:cs typeface="Inter" pitchFamily="34" charset="-120"/>
              </a:rPr>
              <a:t>LA PREGUNTA</a:t>
            </a:r>
            <a:endParaRPr lang="en-US" sz="1200" dirty="0"/>
          </a:p>
        </p:txBody>
      </p:sp>
      <p:sp>
        <p:nvSpPr>
          <p:cNvPr id="3" name="Text 1"/>
          <p:cNvSpPr>
            <a:spLocks noGrp="1"/>
          </p:cNvSpPr>
          <p:nvPr>
            <p:ph type="title"/>
          </p:nvPr>
        </p:nvSpPr>
        <p:spPr>
          <a:xfrm>
            <a:off x="1190625" y="2095500"/>
            <a:ext cx="9810750" cy="1902777"/>
          </a:xfrm>
          <a:prstGeom prst="rect">
            <a:avLst/>
          </a:prstGeom>
          <a:noFill/>
          <a:ln/>
        </p:spPr>
        <p:txBody>
          <a:bodyPr wrap="square" lIns="0" tIns="0" rIns="0" bIns="0" rtlCol="0" anchor="t">
            <a:normAutofit/>
          </a:bodyPr>
          <a:lstStyle/>
          <a:p>
            <a:pPr marL="0" indent="0" algn="ctr">
              <a:lnSpc>
                <a:spcPts val="4928"/>
              </a:lnSpc>
              <a:buNone/>
            </a:pPr>
            <a:r>
              <a:rPr lang="en-US" sz="4400" b="1" i="0" dirty="0">
                <a:solidFill>
                  <a:srgbClr val="1E3A2C"/>
                </a:solidFill>
                <a:latin typeface="Fraunces" pitchFamily="18" charset="0"/>
                <a:ea typeface="Fraunces" pitchFamily="18" charset="-122"/>
                <a:cs typeface="Fraunces" pitchFamily="18" charset="-120"/>
              </a:rPr>
              <a:t>Dadas las condiciones de una parcela, ¿qué cultivo tiene más probabilidades de funcionar?</a:t>
            </a:r>
            <a:endParaRPr lang="en-US" sz="4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9A5B0B"/>
                </a:solidFill>
                <a:latin typeface="Inter" pitchFamily="34" charset="0"/>
                <a:ea typeface="Inter" pitchFamily="34" charset="-122"/>
                <a:cs typeface="Inter" pitchFamily="34" charset="-120"/>
              </a:rPr>
              <a:t>OBJETIVO Y METODOLOGÍA</a:t>
            </a:r>
            <a:endParaRPr lang="en-US" sz="1200" dirty="0"/>
          </a:p>
        </p:txBody>
      </p:sp>
      <p:sp>
        <p:nvSpPr>
          <p:cNvPr id="3" name="Text 1"/>
          <p:cNvSpPr>
            <a:spLocks noGrp="1"/>
          </p:cNvSpPr>
          <p:nvPr>
            <p:ph type="title"/>
          </p:nvPr>
        </p:nvSpPr>
        <p:spPr>
          <a:xfrm>
            <a:off x="812800" y="1153161"/>
            <a:ext cx="10883392" cy="519113"/>
          </a:xfrm>
          <a:prstGeom prst="rect">
            <a:avLst/>
          </a:prstGeom>
          <a:noFill/>
          <a:ln/>
        </p:spPr>
        <p:txBody>
          <a:bodyPr wrap="square" lIns="0" tIns="0" rIns="0" bIns="0" rtlCol="0" anchor="t">
            <a:normAutofit fontScale="90000"/>
          </a:bodyPr>
          <a:lstStyle/>
          <a:p>
            <a:pPr marL="0" indent="0" algn="l">
              <a:lnSpc>
                <a:spcPts val="3888"/>
              </a:lnSpc>
              <a:buNone/>
            </a:pPr>
            <a:r>
              <a:rPr lang="en-US" sz="3600" b="1" i="0" dirty="0">
                <a:solidFill>
                  <a:srgbClr val="1C2620"/>
                </a:solidFill>
                <a:latin typeface="Fraunces" pitchFamily="18" charset="0"/>
                <a:ea typeface="Fraunces" pitchFamily="18" charset="-122"/>
                <a:cs typeface="Fraunces" pitchFamily="18" charset="-120"/>
              </a:rPr>
              <a:t>Recomendar el cultivo óptimo entre 22 opciones</a:t>
            </a:r>
            <a:endParaRPr lang="en-US" sz="3600" dirty="0"/>
          </a:p>
        </p:txBody>
      </p:sp>
      <p:sp>
        <p:nvSpPr>
          <p:cNvPr id="5" name="Shape 3"/>
          <p:cNvSpPr/>
          <p:nvPr/>
        </p:nvSpPr>
        <p:spPr>
          <a:xfrm>
            <a:off x="812800" y="4114800"/>
            <a:ext cx="10566400" cy="25400"/>
          </a:xfrm>
          <a:prstGeom prst="rect">
            <a:avLst/>
          </a:prstGeom>
          <a:solidFill>
            <a:srgbClr val="E9E5D8"/>
          </a:solidFill>
          <a:ln/>
        </p:spPr>
        <p:txBody>
          <a:bodyPr/>
          <a:lstStyle/>
          <a:p>
            <a:endParaRPr lang="es-CO"/>
          </a:p>
        </p:txBody>
      </p:sp>
      <p:sp>
        <p:nvSpPr>
          <p:cNvPr id="6" name="Shape 4"/>
          <p:cNvSpPr/>
          <p:nvPr/>
        </p:nvSpPr>
        <p:spPr>
          <a:xfrm>
            <a:off x="819150" y="3562350"/>
            <a:ext cx="1638300" cy="1089660"/>
          </a:xfrm>
          <a:prstGeom prst="roundRect">
            <a:avLst>
              <a:gd name="adj" fmla="val 11072"/>
            </a:avLst>
          </a:prstGeom>
          <a:solidFill>
            <a:srgbClr val="FFFDF7"/>
          </a:solidFill>
          <a:ln w="12700">
            <a:solidFill>
              <a:srgbClr val="E9E5D8"/>
            </a:solidFill>
            <a:prstDash val="solid"/>
          </a:ln>
        </p:spPr>
        <p:txBody>
          <a:bodyPr/>
          <a:lstStyle/>
          <a:p>
            <a:endParaRPr lang="es-CO"/>
          </a:p>
        </p:txBody>
      </p:sp>
      <p:sp>
        <p:nvSpPr>
          <p:cNvPr id="7" name="Text 5"/>
          <p:cNvSpPr/>
          <p:nvPr/>
        </p:nvSpPr>
        <p:spPr>
          <a:xfrm>
            <a:off x="949960" y="3743961"/>
            <a:ext cx="142748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9A5B0B"/>
                </a:solidFill>
                <a:latin typeface="Fraunces" pitchFamily="18" charset="0"/>
                <a:ea typeface="Fraunces" pitchFamily="18" charset="-122"/>
                <a:cs typeface="Fraunces" pitchFamily="18" charset="-120"/>
              </a:rPr>
              <a:t>01</a:t>
            </a:r>
            <a:endParaRPr lang="en-US" sz="2200" dirty="0"/>
          </a:p>
        </p:txBody>
      </p:sp>
      <p:sp>
        <p:nvSpPr>
          <p:cNvPr id="8" name="Text 6"/>
          <p:cNvSpPr/>
          <p:nvPr/>
        </p:nvSpPr>
        <p:spPr>
          <a:xfrm>
            <a:off x="949960" y="4185920"/>
            <a:ext cx="142748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C2620"/>
                </a:solidFill>
                <a:latin typeface="Inter" pitchFamily="34" charset="0"/>
                <a:ea typeface="Inter" pitchFamily="34" charset="-122"/>
                <a:cs typeface="Inter" pitchFamily="34" charset="-120"/>
              </a:rPr>
              <a:t>Negocio</a:t>
            </a:r>
            <a:endParaRPr lang="en-US" sz="1600" dirty="0"/>
          </a:p>
        </p:txBody>
      </p:sp>
      <p:sp>
        <p:nvSpPr>
          <p:cNvPr id="9" name="Shape 7"/>
          <p:cNvSpPr/>
          <p:nvPr/>
        </p:nvSpPr>
        <p:spPr>
          <a:xfrm>
            <a:off x="2603500" y="3562350"/>
            <a:ext cx="1638300" cy="1089660"/>
          </a:xfrm>
          <a:prstGeom prst="roundRect">
            <a:avLst>
              <a:gd name="adj" fmla="val 11072"/>
            </a:avLst>
          </a:prstGeom>
          <a:solidFill>
            <a:srgbClr val="FFFDF7"/>
          </a:solidFill>
          <a:ln w="12700">
            <a:solidFill>
              <a:srgbClr val="E9E5D8"/>
            </a:solidFill>
            <a:prstDash val="solid"/>
          </a:ln>
        </p:spPr>
        <p:txBody>
          <a:bodyPr/>
          <a:lstStyle/>
          <a:p>
            <a:endParaRPr lang="es-CO"/>
          </a:p>
        </p:txBody>
      </p:sp>
      <p:sp>
        <p:nvSpPr>
          <p:cNvPr id="10" name="Text 8"/>
          <p:cNvSpPr/>
          <p:nvPr/>
        </p:nvSpPr>
        <p:spPr>
          <a:xfrm>
            <a:off x="2734310" y="3743961"/>
            <a:ext cx="142748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9A5B0B"/>
                </a:solidFill>
                <a:latin typeface="Fraunces" pitchFamily="18" charset="0"/>
                <a:ea typeface="Fraunces" pitchFamily="18" charset="-122"/>
                <a:cs typeface="Fraunces" pitchFamily="18" charset="-120"/>
              </a:rPr>
              <a:t>02</a:t>
            </a:r>
            <a:endParaRPr lang="en-US" sz="2200" dirty="0"/>
          </a:p>
        </p:txBody>
      </p:sp>
      <p:sp>
        <p:nvSpPr>
          <p:cNvPr id="11" name="Text 9"/>
          <p:cNvSpPr/>
          <p:nvPr/>
        </p:nvSpPr>
        <p:spPr>
          <a:xfrm>
            <a:off x="2734310" y="4185920"/>
            <a:ext cx="142748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C2620"/>
                </a:solidFill>
                <a:latin typeface="Inter" pitchFamily="34" charset="0"/>
                <a:ea typeface="Inter" pitchFamily="34" charset="-122"/>
                <a:cs typeface="Inter" pitchFamily="34" charset="-120"/>
              </a:rPr>
              <a:t>Datos</a:t>
            </a:r>
            <a:endParaRPr lang="en-US" sz="1600" dirty="0"/>
          </a:p>
        </p:txBody>
      </p:sp>
      <p:sp>
        <p:nvSpPr>
          <p:cNvPr id="12" name="Shape 10"/>
          <p:cNvSpPr/>
          <p:nvPr/>
        </p:nvSpPr>
        <p:spPr>
          <a:xfrm>
            <a:off x="4387850" y="3562350"/>
            <a:ext cx="1638300" cy="1089660"/>
          </a:xfrm>
          <a:prstGeom prst="roundRect">
            <a:avLst>
              <a:gd name="adj" fmla="val 11072"/>
            </a:avLst>
          </a:prstGeom>
          <a:solidFill>
            <a:srgbClr val="FFFDF7"/>
          </a:solidFill>
          <a:ln w="12700">
            <a:solidFill>
              <a:srgbClr val="E9E5D8"/>
            </a:solidFill>
            <a:prstDash val="solid"/>
          </a:ln>
        </p:spPr>
        <p:txBody>
          <a:bodyPr/>
          <a:lstStyle/>
          <a:p>
            <a:endParaRPr lang="es-CO"/>
          </a:p>
        </p:txBody>
      </p:sp>
      <p:sp>
        <p:nvSpPr>
          <p:cNvPr id="13" name="Text 11"/>
          <p:cNvSpPr/>
          <p:nvPr/>
        </p:nvSpPr>
        <p:spPr>
          <a:xfrm>
            <a:off x="4518660" y="3743961"/>
            <a:ext cx="142748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9A5B0B"/>
                </a:solidFill>
                <a:latin typeface="Fraunces" pitchFamily="18" charset="0"/>
                <a:ea typeface="Fraunces" pitchFamily="18" charset="-122"/>
                <a:cs typeface="Fraunces" pitchFamily="18" charset="-120"/>
              </a:rPr>
              <a:t>03</a:t>
            </a:r>
            <a:endParaRPr lang="en-US" sz="2200" dirty="0"/>
          </a:p>
        </p:txBody>
      </p:sp>
      <p:sp>
        <p:nvSpPr>
          <p:cNvPr id="14" name="Text 12"/>
          <p:cNvSpPr/>
          <p:nvPr/>
        </p:nvSpPr>
        <p:spPr>
          <a:xfrm>
            <a:off x="4518660" y="4185920"/>
            <a:ext cx="142748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C2620"/>
                </a:solidFill>
                <a:latin typeface="Inter" pitchFamily="34" charset="0"/>
                <a:ea typeface="Inter" pitchFamily="34" charset="-122"/>
                <a:cs typeface="Inter" pitchFamily="34" charset="-120"/>
              </a:rPr>
              <a:t>Preparación</a:t>
            </a:r>
            <a:endParaRPr lang="en-US" sz="1600" dirty="0"/>
          </a:p>
        </p:txBody>
      </p:sp>
      <p:sp>
        <p:nvSpPr>
          <p:cNvPr id="15" name="Shape 13"/>
          <p:cNvSpPr/>
          <p:nvPr/>
        </p:nvSpPr>
        <p:spPr>
          <a:xfrm>
            <a:off x="6165850" y="3562350"/>
            <a:ext cx="1638300" cy="1089660"/>
          </a:xfrm>
          <a:prstGeom prst="roundRect">
            <a:avLst>
              <a:gd name="adj" fmla="val 11072"/>
            </a:avLst>
          </a:prstGeom>
          <a:solidFill>
            <a:srgbClr val="1E3A2C"/>
          </a:solidFill>
          <a:ln w="12700">
            <a:solidFill>
              <a:srgbClr val="E9E5D8"/>
            </a:solidFill>
            <a:prstDash val="solid"/>
          </a:ln>
        </p:spPr>
        <p:txBody>
          <a:bodyPr/>
          <a:lstStyle/>
          <a:p>
            <a:endParaRPr lang="es-CO"/>
          </a:p>
        </p:txBody>
      </p:sp>
      <p:sp>
        <p:nvSpPr>
          <p:cNvPr id="16" name="Text 14"/>
          <p:cNvSpPr/>
          <p:nvPr/>
        </p:nvSpPr>
        <p:spPr>
          <a:xfrm>
            <a:off x="6296660" y="3743961"/>
            <a:ext cx="142748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3A33B"/>
                </a:solidFill>
                <a:latin typeface="Fraunces" pitchFamily="18" charset="0"/>
                <a:ea typeface="Fraunces" pitchFamily="18" charset="-122"/>
                <a:cs typeface="Fraunces" pitchFamily="18" charset="-120"/>
              </a:rPr>
              <a:t>04</a:t>
            </a:r>
            <a:endParaRPr lang="en-US" sz="2200" dirty="0"/>
          </a:p>
        </p:txBody>
      </p:sp>
      <p:sp>
        <p:nvSpPr>
          <p:cNvPr id="17" name="Text 15"/>
          <p:cNvSpPr/>
          <p:nvPr/>
        </p:nvSpPr>
        <p:spPr>
          <a:xfrm>
            <a:off x="6296660" y="4185920"/>
            <a:ext cx="142748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F2EA"/>
                </a:solidFill>
                <a:latin typeface="Inter" pitchFamily="34" charset="0"/>
                <a:ea typeface="Inter" pitchFamily="34" charset="-122"/>
                <a:cs typeface="Inter" pitchFamily="34" charset="-120"/>
              </a:rPr>
              <a:t>Modelado</a:t>
            </a:r>
            <a:endParaRPr lang="en-US" sz="1600" dirty="0"/>
          </a:p>
        </p:txBody>
      </p:sp>
      <p:sp>
        <p:nvSpPr>
          <p:cNvPr id="18" name="Shape 16"/>
          <p:cNvSpPr/>
          <p:nvPr/>
        </p:nvSpPr>
        <p:spPr>
          <a:xfrm>
            <a:off x="7950200" y="3562350"/>
            <a:ext cx="1638300" cy="1089660"/>
          </a:xfrm>
          <a:prstGeom prst="roundRect">
            <a:avLst>
              <a:gd name="adj" fmla="val 11072"/>
            </a:avLst>
          </a:prstGeom>
          <a:solidFill>
            <a:srgbClr val="FFFDF7"/>
          </a:solidFill>
          <a:ln w="12700">
            <a:solidFill>
              <a:srgbClr val="E9E5D8"/>
            </a:solidFill>
            <a:prstDash val="solid"/>
          </a:ln>
        </p:spPr>
        <p:txBody>
          <a:bodyPr/>
          <a:lstStyle/>
          <a:p>
            <a:endParaRPr lang="es-CO"/>
          </a:p>
        </p:txBody>
      </p:sp>
      <p:sp>
        <p:nvSpPr>
          <p:cNvPr id="19" name="Text 17"/>
          <p:cNvSpPr/>
          <p:nvPr/>
        </p:nvSpPr>
        <p:spPr>
          <a:xfrm>
            <a:off x="8081010" y="3743961"/>
            <a:ext cx="142748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9A5B0B"/>
                </a:solidFill>
                <a:latin typeface="Fraunces" pitchFamily="18" charset="0"/>
                <a:ea typeface="Fraunces" pitchFamily="18" charset="-122"/>
                <a:cs typeface="Fraunces" pitchFamily="18" charset="-120"/>
              </a:rPr>
              <a:t>05</a:t>
            </a:r>
            <a:endParaRPr lang="en-US" sz="2200" dirty="0"/>
          </a:p>
        </p:txBody>
      </p:sp>
      <p:sp>
        <p:nvSpPr>
          <p:cNvPr id="20" name="Text 18"/>
          <p:cNvSpPr/>
          <p:nvPr/>
        </p:nvSpPr>
        <p:spPr>
          <a:xfrm>
            <a:off x="8081010" y="4185920"/>
            <a:ext cx="142748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C2620"/>
                </a:solidFill>
                <a:latin typeface="Inter" pitchFamily="34" charset="0"/>
                <a:ea typeface="Inter" pitchFamily="34" charset="-122"/>
                <a:cs typeface="Inter" pitchFamily="34" charset="-120"/>
              </a:rPr>
              <a:t>Evaluación</a:t>
            </a:r>
            <a:endParaRPr lang="en-US" sz="1600" dirty="0"/>
          </a:p>
        </p:txBody>
      </p:sp>
      <p:sp>
        <p:nvSpPr>
          <p:cNvPr id="21" name="Shape 19"/>
          <p:cNvSpPr/>
          <p:nvPr/>
        </p:nvSpPr>
        <p:spPr>
          <a:xfrm>
            <a:off x="9734550" y="3562350"/>
            <a:ext cx="1638300" cy="1089660"/>
          </a:xfrm>
          <a:prstGeom prst="roundRect">
            <a:avLst>
              <a:gd name="adj" fmla="val 11072"/>
            </a:avLst>
          </a:prstGeom>
          <a:solidFill>
            <a:srgbClr val="1E3A2C"/>
          </a:solidFill>
          <a:ln w="12700">
            <a:solidFill>
              <a:srgbClr val="E9E5D8"/>
            </a:solidFill>
            <a:prstDash val="solid"/>
          </a:ln>
        </p:spPr>
        <p:txBody>
          <a:bodyPr/>
          <a:lstStyle/>
          <a:p>
            <a:endParaRPr lang="es-CO"/>
          </a:p>
        </p:txBody>
      </p:sp>
      <p:sp>
        <p:nvSpPr>
          <p:cNvPr id="22" name="Text 20"/>
          <p:cNvSpPr/>
          <p:nvPr/>
        </p:nvSpPr>
        <p:spPr>
          <a:xfrm>
            <a:off x="9865360" y="3743961"/>
            <a:ext cx="142748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3A33B"/>
                </a:solidFill>
                <a:latin typeface="Fraunces" pitchFamily="18" charset="0"/>
                <a:ea typeface="Fraunces" pitchFamily="18" charset="-122"/>
                <a:cs typeface="Fraunces" pitchFamily="18" charset="-120"/>
              </a:rPr>
              <a:t>06</a:t>
            </a:r>
            <a:endParaRPr lang="en-US" sz="2200" dirty="0"/>
          </a:p>
        </p:txBody>
      </p:sp>
      <p:sp>
        <p:nvSpPr>
          <p:cNvPr id="23" name="Text 21"/>
          <p:cNvSpPr/>
          <p:nvPr/>
        </p:nvSpPr>
        <p:spPr>
          <a:xfrm>
            <a:off x="9865360" y="4185920"/>
            <a:ext cx="142748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5F2EA"/>
                </a:solidFill>
                <a:latin typeface="Inter" pitchFamily="34" charset="0"/>
                <a:ea typeface="Inter" pitchFamily="34" charset="-122"/>
                <a:cs typeface="Inter" pitchFamily="34" charset="-120"/>
              </a:rPr>
              <a:t>Despliegue</a:t>
            </a:r>
            <a:endParaRPr lang="en-US" sz="1600" dirty="0"/>
          </a:p>
        </p:txBody>
      </p:sp>
      <p:sp>
        <p:nvSpPr>
          <p:cNvPr id="24" name="Text 22"/>
          <p:cNvSpPr/>
          <p:nvPr/>
        </p:nvSpPr>
        <p:spPr>
          <a:xfrm>
            <a:off x="812800" y="52070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E6B61"/>
                </a:solidFill>
                <a:latin typeface="Inter" pitchFamily="34" charset="0"/>
                <a:ea typeface="Inter" pitchFamily="34" charset="-122"/>
                <a:cs typeface="Inter" pitchFamily="34" charset="-120"/>
              </a:rPr>
              <a:t>Python · pandas · scikit-learn · Streamlit</a:t>
            </a:r>
            <a:endParaRPr lang="en-US" sz="1200" dirty="0"/>
          </a:p>
        </p:txBody>
      </p:sp>
      <p:sp>
        <p:nvSpPr>
          <p:cNvPr id="25" name="Text 23"/>
          <p:cNvSpPr/>
          <p:nvPr/>
        </p:nvSpPr>
        <p:spPr>
          <a:xfrm>
            <a:off x="812800" y="6230621"/>
            <a:ext cx="8865394"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E3A2C"/>
                </a:solidFill>
                <a:latin typeface="Inter" pitchFamily="34" charset="0"/>
                <a:ea typeface="Inter" pitchFamily="34" charset="-122"/>
                <a:cs typeface="Inter" pitchFamily="34" charset="-120"/>
              </a:rPr>
              <a:t>NEGOCIO</a:t>
            </a:r>
            <a:r>
              <a:rPr lang="en-US" sz="1200" kern="0" spc="100" dirty="0">
                <a:solidFill>
                  <a:srgbClr val="6E7B71"/>
                </a:solidFill>
                <a:latin typeface="Inter" pitchFamily="34" charset="0"/>
                <a:ea typeface="Inter" pitchFamily="34" charset="-122"/>
                <a:cs typeface="Inter" pitchFamily="34" charset="-120"/>
              </a:rPr>
              <a:t>   ·   DATOS   ·   PREPARACIÓN   ·   MODELADO   ·   EVALUACIÓN   ·   DESPLIEGUE</a:t>
            </a:r>
            <a:endParaRPr lang="en-US" sz="1200" dirty="0"/>
          </a:p>
        </p:txBody>
      </p:sp>
      <p:sp>
        <p:nvSpPr>
          <p:cNvPr id="26" name="Text 24"/>
          <p:cNvSpPr/>
          <p:nvPr/>
        </p:nvSpPr>
        <p:spPr>
          <a:xfrm>
            <a:off x="10789317" y="6230621"/>
            <a:ext cx="589883"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E7B71"/>
                </a:solidFill>
                <a:latin typeface="Inter" pitchFamily="34" charset="0"/>
                <a:ea typeface="Inter" pitchFamily="34" charset="-122"/>
                <a:cs typeface="Inter" pitchFamily="34" charset="-120"/>
              </a:rPr>
              <a:t>04 / 18</a:t>
            </a:r>
            <a:endParaRPr lang="en-US" sz="1200" dirty="0"/>
          </a:p>
        </p:txBody>
      </p:sp>
      <p:sp>
        <p:nvSpPr>
          <p:cNvPr id="28" name="TextBox 27">
            <a:extLst>
              <a:ext uri="{FF2B5EF4-FFF2-40B4-BE49-F238E27FC236}">
                <a16:creationId xmlns:a16="http://schemas.microsoft.com/office/drawing/2014/main" id="{E97DEFC2-FA66-E371-F6AF-083378750742}"/>
              </a:ext>
            </a:extLst>
          </p:cNvPr>
          <p:cNvSpPr txBox="1"/>
          <p:nvPr/>
        </p:nvSpPr>
        <p:spPr>
          <a:xfrm>
            <a:off x="912845" y="1867533"/>
            <a:ext cx="10078615" cy="923330"/>
          </a:xfrm>
          <a:prstGeom prst="rect">
            <a:avLst/>
          </a:prstGeom>
          <a:noFill/>
        </p:spPr>
        <p:txBody>
          <a:bodyPr wrap="square">
            <a:spAutoFit/>
          </a:bodyPr>
          <a:lstStyle/>
          <a:p>
            <a:pPr>
              <a:buNone/>
            </a:pPr>
            <a:r>
              <a:rPr lang="es-CO" dirty="0"/>
              <a:t>Para organizar el trabajo seguimos </a:t>
            </a:r>
            <a:r>
              <a:rPr lang="es-CO" b="1" dirty="0"/>
              <a:t>CRISP-DM</a:t>
            </a:r>
            <a:r>
              <a:rPr lang="es-CO" dirty="0"/>
              <a:t>, que es la metodología estándar en proyectos de ciencia de datos. Tiene seis fases: entender el negocio, entender los datos, prepararlos, modelar, evaluar y desplegar. La presentación sigue exactamente ese orden.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9A5B0B"/>
                </a:solidFill>
                <a:latin typeface="Inter" pitchFamily="34" charset="0"/>
                <a:ea typeface="Inter" pitchFamily="34" charset="-122"/>
                <a:cs typeface="Inter" pitchFamily="34" charset="-120"/>
              </a:rPr>
              <a:t>EL DATASET</a:t>
            </a:r>
            <a:endParaRPr lang="en-US" sz="1200" dirty="0"/>
          </a:p>
        </p:txBody>
      </p:sp>
      <p:sp>
        <p:nvSpPr>
          <p:cNvPr id="3" name="Text 1"/>
          <p:cNvSpPr>
            <a:spLocks noGrp="1"/>
          </p:cNvSpPr>
          <p:nvPr>
            <p:ph type="title"/>
          </p:nvPr>
        </p:nvSpPr>
        <p:spPr>
          <a:xfrm>
            <a:off x="812800" y="1153161"/>
            <a:ext cx="10883392" cy="519113"/>
          </a:xfrm>
          <a:prstGeom prst="rect">
            <a:avLst/>
          </a:prstGeom>
          <a:noFill/>
          <a:ln/>
        </p:spPr>
        <p:txBody>
          <a:bodyPr wrap="square" lIns="0" tIns="0" rIns="0" bIns="0" rtlCol="0" anchor="t">
            <a:normAutofit/>
          </a:bodyPr>
          <a:lstStyle/>
          <a:p>
            <a:pPr marL="0" indent="0" algn="l">
              <a:lnSpc>
                <a:spcPts val="3888"/>
              </a:lnSpc>
              <a:buNone/>
            </a:pPr>
            <a:r>
              <a:rPr lang="en-US" sz="3600" b="1" i="0" dirty="0">
                <a:solidFill>
                  <a:srgbClr val="1C2620"/>
                </a:solidFill>
                <a:latin typeface="Fraunces" pitchFamily="18" charset="0"/>
                <a:ea typeface="Fraunces" pitchFamily="18" charset="-122"/>
                <a:cs typeface="Fraunces" pitchFamily="18" charset="-120"/>
              </a:rPr>
              <a:t>Crop Recommendation Dataset · Kaggle</a:t>
            </a:r>
            <a:endParaRPr lang="en-US" sz="3600" dirty="0"/>
          </a:p>
        </p:txBody>
      </p:sp>
      <p:sp>
        <p:nvSpPr>
          <p:cNvPr id="4" name="Text 2"/>
          <p:cNvSpPr/>
          <p:nvPr/>
        </p:nvSpPr>
        <p:spPr>
          <a:xfrm>
            <a:off x="812800" y="2095500"/>
            <a:ext cx="3401060"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1E3A2C"/>
                </a:solidFill>
                <a:latin typeface="Fraunces" pitchFamily="18" charset="0"/>
                <a:ea typeface="Fraunces" pitchFamily="18" charset="-122"/>
                <a:cs typeface="Fraunces" pitchFamily="18" charset="-120"/>
              </a:rPr>
              <a:t>2.200</a:t>
            </a:r>
            <a:endParaRPr lang="en-US" sz="8000" dirty="0"/>
          </a:p>
        </p:txBody>
      </p:sp>
      <p:sp>
        <p:nvSpPr>
          <p:cNvPr id="5" name="Text 3"/>
          <p:cNvSpPr/>
          <p:nvPr/>
        </p:nvSpPr>
        <p:spPr>
          <a:xfrm>
            <a:off x="812800" y="3111500"/>
            <a:ext cx="340106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5E6B61"/>
                </a:solidFill>
                <a:latin typeface="Inter" pitchFamily="34" charset="0"/>
                <a:ea typeface="Inter" pitchFamily="34" charset="-122"/>
                <a:cs typeface="Inter" pitchFamily="34" charset="-120"/>
              </a:rPr>
              <a:t>parcelas</a:t>
            </a:r>
            <a:endParaRPr lang="en-US" sz="1600" dirty="0"/>
          </a:p>
        </p:txBody>
      </p:sp>
      <p:sp>
        <p:nvSpPr>
          <p:cNvPr id="6" name="Text 4"/>
          <p:cNvSpPr/>
          <p:nvPr/>
        </p:nvSpPr>
        <p:spPr>
          <a:xfrm>
            <a:off x="4445000" y="2095500"/>
            <a:ext cx="3401060"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1E3A2C"/>
                </a:solidFill>
                <a:latin typeface="Fraunces" pitchFamily="18" charset="0"/>
                <a:ea typeface="Fraunces" pitchFamily="18" charset="-122"/>
                <a:cs typeface="Fraunces" pitchFamily="18" charset="-120"/>
              </a:rPr>
              <a:t>7</a:t>
            </a:r>
            <a:endParaRPr lang="en-US" sz="8000" dirty="0"/>
          </a:p>
        </p:txBody>
      </p:sp>
      <p:sp>
        <p:nvSpPr>
          <p:cNvPr id="7" name="Text 5"/>
          <p:cNvSpPr/>
          <p:nvPr/>
        </p:nvSpPr>
        <p:spPr>
          <a:xfrm>
            <a:off x="4445000" y="3111500"/>
            <a:ext cx="340106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5E6B61"/>
                </a:solidFill>
                <a:latin typeface="Inter" pitchFamily="34" charset="0"/>
                <a:ea typeface="Inter" pitchFamily="34" charset="-122"/>
                <a:cs typeface="Inter" pitchFamily="34" charset="-120"/>
              </a:rPr>
              <a:t>variables</a:t>
            </a:r>
            <a:endParaRPr lang="en-US" sz="1600" dirty="0"/>
          </a:p>
        </p:txBody>
      </p:sp>
      <p:sp>
        <p:nvSpPr>
          <p:cNvPr id="8" name="Text 6"/>
          <p:cNvSpPr/>
          <p:nvPr/>
        </p:nvSpPr>
        <p:spPr>
          <a:xfrm>
            <a:off x="8077200" y="2095500"/>
            <a:ext cx="3401060"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1E3A2C"/>
                </a:solidFill>
                <a:latin typeface="Fraunces" pitchFamily="18" charset="0"/>
                <a:ea typeface="Fraunces" pitchFamily="18" charset="-122"/>
                <a:cs typeface="Fraunces" pitchFamily="18" charset="-120"/>
              </a:rPr>
              <a:t>22</a:t>
            </a:r>
            <a:endParaRPr lang="en-US" sz="8000" dirty="0"/>
          </a:p>
        </p:txBody>
      </p:sp>
      <p:sp>
        <p:nvSpPr>
          <p:cNvPr id="9" name="Text 7"/>
          <p:cNvSpPr/>
          <p:nvPr/>
        </p:nvSpPr>
        <p:spPr>
          <a:xfrm>
            <a:off x="8077200" y="3111500"/>
            <a:ext cx="340106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5E6B61"/>
                </a:solidFill>
                <a:latin typeface="Inter" pitchFamily="34" charset="0"/>
                <a:ea typeface="Inter" pitchFamily="34" charset="-122"/>
                <a:cs typeface="Inter" pitchFamily="34" charset="-120"/>
              </a:rPr>
              <a:t>cultivos</a:t>
            </a:r>
            <a:endParaRPr lang="en-US" sz="1600" dirty="0"/>
          </a:p>
        </p:txBody>
      </p:sp>
      <p:sp>
        <p:nvSpPr>
          <p:cNvPr id="10" name="Shape 8"/>
          <p:cNvSpPr/>
          <p:nvPr/>
        </p:nvSpPr>
        <p:spPr>
          <a:xfrm>
            <a:off x="819150" y="4070350"/>
            <a:ext cx="5143500" cy="1000760"/>
          </a:xfrm>
          <a:prstGeom prst="roundRect">
            <a:avLst>
              <a:gd name="adj" fmla="val 14594"/>
            </a:avLst>
          </a:prstGeom>
          <a:solidFill>
            <a:srgbClr val="FFFDF7"/>
          </a:solidFill>
          <a:ln w="12700">
            <a:solidFill>
              <a:srgbClr val="E9E5D8"/>
            </a:solidFill>
            <a:prstDash val="solid"/>
          </a:ln>
        </p:spPr>
        <p:txBody>
          <a:bodyPr/>
          <a:lstStyle/>
          <a:p>
            <a:endParaRPr lang="es-CO"/>
          </a:p>
        </p:txBody>
      </p:sp>
      <p:pic>
        <p:nvPicPr>
          <p:cNvPr id="11" name="Image 0" descr="Database"/>
          <p:cNvPicPr>
            <a:picLocks noChangeAspect="1"/>
          </p:cNvPicPr>
          <p:nvPr/>
        </p:nvPicPr>
        <p:blipFill>
          <a:blip r:embed="rId3"/>
          <a:srcRect/>
          <a:stretch/>
        </p:blipFill>
        <p:spPr>
          <a:xfrm>
            <a:off x="1076960" y="4367532"/>
            <a:ext cx="406400" cy="406400"/>
          </a:xfrm>
          <a:prstGeom prst="rect">
            <a:avLst/>
          </a:prstGeom>
        </p:spPr>
      </p:pic>
      <p:sp>
        <p:nvSpPr>
          <p:cNvPr id="12" name="Text 9"/>
          <p:cNvSpPr/>
          <p:nvPr/>
        </p:nvSpPr>
        <p:spPr>
          <a:xfrm>
            <a:off x="1661160" y="4302761"/>
            <a:ext cx="332854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9A5B0B"/>
                </a:solidFill>
                <a:latin typeface="Inter" pitchFamily="34" charset="0"/>
                <a:ea typeface="Inter" pitchFamily="34" charset="-122"/>
                <a:cs typeface="Inter" pitchFamily="34" charset="-120"/>
              </a:rPr>
              <a:t>SUELO</a:t>
            </a:r>
            <a:endParaRPr lang="en-US" sz="1200" dirty="0"/>
          </a:p>
        </p:txBody>
      </p:sp>
      <p:sp>
        <p:nvSpPr>
          <p:cNvPr id="13" name="Text 10"/>
          <p:cNvSpPr/>
          <p:nvPr/>
        </p:nvSpPr>
        <p:spPr>
          <a:xfrm>
            <a:off x="1661160" y="4554221"/>
            <a:ext cx="3877913"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C2620"/>
                </a:solidFill>
                <a:latin typeface="Inter" pitchFamily="34" charset="0"/>
                <a:ea typeface="Inter" pitchFamily="34" charset="-122"/>
                <a:cs typeface="Inter" pitchFamily="34" charset="-120"/>
              </a:rPr>
              <a:t>Nitrógeno · Fósforo · Potasio · pH</a:t>
            </a:r>
            <a:endParaRPr lang="en-US" sz="1600" dirty="0"/>
          </a:p>
        </p:txBody>
      </p:sp>
      <p:sp>
        <p:nvSpPr>
          <p:cNvPr id="14" name="Shape 11"/>
          <p:cNvSpPr/>
          <p:nvPr/>
        </p:nvSpPr>
        <p:spPr>
          <a:xfrm>
            <a:off x="6229350" y="4070350"/>
            <a:ext cx="5143500" cy="1000760"/>
          </a:xfrm>
          <a:prstGeom prst="roundRect">
            <a:avLst>
              <a:gd name="adj" fmla="val 14594"/>
            </a:avLst>
          </a:prstGeom>
          <a:solidFill>
            <a:srgbClr val="FFFDF7"/>
          </a:solidFill>
          <a:ln w="12700">
            <a:solidFill>
              <a:srgbClr val="E9E5D8"/>
            </a:solidFill>
            <a:prstDash val="solid"/>
          </a:ln>
        </p:spPr>
        <p:txBody>
          <a:bodyPr/>
          <a:lstStyle/>
          <a:p>
            <a:endParaRPr lang="es-CO"/>
          </a:p>
        </p:txBody>
      </p:sp>
      <p:pic>
        <p:nvPicPr>
          <p:cNvPr id="15" name="Image 1" descr="Cloud"/>
          <p:cNvPicPr>
            <a:picLocks noChangeAspect="1"/>
          </p:cNvPicPr>
          <p:nvPr/>
        </p:nvPicPr>
        <p:blipFill>
          <a:blip r:embed="rId4"/>
          <a:srcRect/>
          <a:stretch/>
        </p:blipFill>
        <p:spPr>
          <a:xfrm>
            <a:off x="6487160" y="4367532"/>
            <a:ext cx="406400" cy="406400"/>
          </a:xfrm>
          <a:prstGeom prst="rect">
            <a:avLst/>
          </a:prstGeom>
        </p:spPr>
      </p:pic>
      <p:sp>
        <p:nvSpPr>
          <p:cNvPr id="16" name="Text 12"/>
          <p:cNvSpPr/>
          <p:nvPr/>
        </p:nvSpPr>
        <p:spPr>
          <a:xfrm>
            <a:off x="7071360" y="4302761"/>
            <a:ext cx="3214410"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9A5B0B"/>
                </a:solidFill>
                <a:latin typeface="Inter" pitchFamily="34" charset="0"/>
                <a:ea typeface="Inter" pitchFamily="34" charset="-122"/>
                <a:cs typeface="Inter" pitchFamily="34" charset="-120"/>
              </a:rPr>
              <a:t>CLIMA</a:t>
            </a:r>
            <a:endParaRPr lang="en-US" sz="1200" dirty="0"/>
          </a:p>
        </p:txBody>
      </p:sp>
      <p:sp>
        <p:nvSpPr>
          <p:cNvPr id="17" name="Text 13"/>
          <p:cNvSpPr/>
          <p:nvPr/>
        </p:nvSpPr>
        <p:spPr>
          <a:xfrm>
            <a:off x="7071360" y="4554221"/>
            <a:ext cx="3744944"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C2620"/>
                </a:solidFill>
                <a:latin typeface="Inter" pitchFamily="34" charset="0"/>
                <a:ea typeface="Inter" pitchFamily="34" charset="-122"/>
                <a:cs typeface="Inter" pitchFamily="34" charset="-120"/>
              </a:rPr>
              <a:t>Temperatura · Humedad · Lluvia</a:t>
            </a:r>
            <a:endParaRPr lang="en-US" sz="1600" dirty="0"/>
          </a:p>
        </p:txBody>
      </p:sp>
      <p:sp>
        <p:nvSpPr>
          <p:cNvPr id="18" name="Text 14"/>
          <p:cNvSpPr/>
          <p:nvPr/>
        </p:nvSpPr>
        <p:spPr>
          <a:xfrm>
            <a:off x="812800" y="53340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B61"/>
                </a:solidFill>
                <a:latin typeface="Inter" pitchFamily="34" charset="0"/>
                <a:ea typeface="Inter" pitchFamily="34" charset="-122"/>
                <a:cs typeface="Inter" pitchFamily="34" charset="-120"/>
              </a:rPr>
              <a:t>Variable objetivo: el cultivo que mejor se da en cada parcela</a:t>
            </a:r>
            <a:endParaRPr lang="en-US" sz="1200" dirty="0"/>
          </a:p>
        </p:txBody>
      </p:sp>
      <p:sp>
        <p:nvSpPr>
          <p:cNvPr id="19" name="Text 15"/>
          <p:cNvSpPr/>
          <p:nvPr/>
        </p:nvSpPr>
        <p:spPr>
          <a:xfrm>
            <a:off x="812800" y="6230621"/>
            <a:ext cx="8871863"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E7B71"/>
                </a:solidFill>
                <a:latin typeface="Inter" pitchFamily="34" charset="0"/>
                <a:ea typeface="Inter" pitchFamily="34" charset="-122"/>
                <a:cs typeface="Inter" pitchFamily="34" charset="-120"/>
              </a:rPr>
              <a:t>NEGOCIO   ·   </a:t>
            </a:r>
            <a:r>
              <a:rPr lang="en-US" sz="1200" b="1" kern="0" spc="100" dirty="0">
                <a:solidFill>
                  <a:srgbClr val="1E3A2C"/>
                </a:solidFill>
                <a:latin typeface="Inter" pitchFamily="34" charset="0"/>
                <a:ea typeface="Inter" pitchFamily="34" charset="-122"/>
                <a:cs typeface="Inter" pitchFamily="34" charset="-120"/>
              </a:rPr>
              <a:t>DATOS</a:t>
            </a:r>
            <a:r>
              <a:rPr lang="en-US" sz="1200" kern="0" spc="100" dirty="0">
                <a:solidFill>
                  <a:srgbClr val="6E7B71"/>
                </a:solidFill>
                <a:latin typeface="Inter" pitchFamily="34" charset="0"/>
                <a:ea typeface="Inter" pitchFamily="34" charset="-122"/>
                <a:cs typeface="Inter" pitchFamily="34" charset="-120"/>
              </a:rPr>
              <a:t>   ·   PREPARACIÓN   ·   MODELADO   ·   EVALUACIÓN   ·   DESPLIEGUE</a:t>
            </a:r>
            <a:endParaRPr lang="en-US" sz="1200" dirty="0"/>
          </a:p>
        </p:txBody>
      </p:sp>
      <p:sp>
        <p:nvSpPr>
          <p:cNvPr id="20" name="Text 16"/>
          <p:cNvSpPr/>
          <p:nvPr/>
        </p:nvSpPr>
        <p:spPr>
          <a:xfrm>
            <a:off x="10799033" y="6230621"/>
            <a:ext cx="580168"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E7B71"/>
                </a:solidFill>
                <a:latin typeface="Inter" pitchFamily="34" charset="0"/>
                <a:ea typeface="Inter" pitchFamily="34" charset="-122"/>
                <a:cs typeface="Inter" pitchFamily="34" charset="-120"/>
              </a:rPr>
              <a:t>05 / 18</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9E5D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9A5B0B"/>
                </a:solidFill>
                <a:latin typeface="Inter" pitchFamily="34" charset="0"/>
                <a:ea typeface="Inter" pitchFamily="34" charset="-122"/>
                <a:cs typeface="Inter" pitchFamily="34" charset="-120"/>
              </a:rPr>
              <a:t>CALIDAD DE LOS DATOS</a:t>
            </a:r>
            <a:endParaRPr lang="en-US" sz="1200" dirty="0"/>
          </a:p>
        </p:txBody>
      </p:sp>
      <p:sp>
        <p:nvSpPr>
          <p:cNvPr id="3" name="Text 1"/>
          <p:cNvSpPr>
            <a:spLocks noGrp="1"/>
          </p:cNvSpPr>
          <p:nvPr>
            <p:ph type="title"/>
          </p:nvPr>
        </p:nvSpPr>
        <p:spPr>
          <a:xfrm>
            <a:off x="812800" y="1153161"/>
            <a:ext cx="10883392" cy="519113"/>
          </a:xfrm>
          <a:prstGeom prst="rect">
            <a:avLst/>
          </a:prstGeom>
          <a:noFill/>
          <a:ln/>
        </p:spPr>
        <p:txBody>
          <a:bodyPr wrap="square" lIns="0" tIns="0" rIns="0" bIns="0" rtlCol="0" anchor="t">
            <a:normAutofit/>
          </a:bodyPr>
          <a:lstStyle/>
          <a:p>
            <a:pPr marL="0" indent="0" algn="l">
              <a:lnSpc>
                <a:spcPts val="3888"/>
              </a:lnSpc>
              <a:buNone/>
            </a:pPr>
            <a:r>
              <a:rPr lang="en-US" sz="3600" b="1" i="0" dirty="0">
                <a:solidFill>
                  <a:srgbClr val="1C2620"/>
                </a:solidFill>
                <a:latin typeface="Fraunces" pitchFamily="18" charset="0"/>
                <a:ea typeface="Fraunces" pitchFamily="18" charset="-122"/>
                <a:cs typeface="Fraunces" pitchFamily="18" charset="-120"/>
              </a:rPr>
              <a:t>Datos completos y perfectamente equilibrados</a:t>
            </a:r>
            <a:endParaRPr lang="en-US" sz="3600" dirty="0"/>
          </a:p>
        </p:txBody>
      </p:sp>
      <p:sp>
        <p:nvSpPr>
          <p:cNvPr id="4" name="Shape 2"/>
          <p:cNvSpPr/>
          <p:nvPr/>
        </p:nvSpPr>
        <p:spPr>
          <a:xfrm>
            <a:off x="812800" y="2540000"/>
            <a:ext cx="3302000" cy="2164080"/>
          </a:xfrm>
          <a:prstGeom prst="roundRect">
            <a:avLst>
              <a:gd name="adj" fmla="val 7042"/>
            </a:avLst>
          </a:prstGeom>
          <a:solidFill>
            <a:srgbClr val="FFFDF7"/>
          </a:solidFill>
          <a:ln/>
        </p:spPr>
        <p:txBody>
          <a:bodyPr/>
          <a:lstStyle/>
          <a:p>
            <a:endParaRPr lang="es-CO"/>
          </a:p>
        </p:txBody>
      </p:sp>
      <p:pic>
        <p:nvPicPr>
          <p:cNvPr id="5" name="Image 0" descr="CheckCircle"/>
          <p:cNvPicPr>
            <a:picLocks noChangeAspect="1"/>
          </p:cNvPicPr>
          <p:nvPr/>
        </p:nvPicPr>
        <p:blipFill>
          <a:blip r:embed="rId3"/>
          <a:srcRect/>
          <a:stretch/>
        </p:blipFill>
        <p:spPr>
          <a:xfrm>
            <a:off x="1117600" y="2819400"/>
            <a:ext cx="355600" cy="355600"/>
          </a:xfrm>
          <a:prstGeom prst="rect">
            <a:avLst/>
          </a:prstGeom>
        </p:spPr>
      </p:pic>
      <p:sp>
        <p:nvSpPr>
          <p:cNvPr id="6" name="Text 3"/>
          <p:cNvSpPr/>
          <p:nvPr/>
        </p:nvSpPr>
        <p:spPr>
          <a:xfrm>
            <a:off x="1117600" y="3276600"/>
            <a:ext cx="277317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E3A2C"/>
                </a:solidFill>
                <a:latin typeface="Fraunces" pitchFamily="18" charset="0"/>
                <a:ea typeface="Fraunces" pitchFamily="18" charset="-122"/>
                <a:cs typeface="Fraunces" pitchFamily="18" charset="-120"/>
              </a:rPr>
              <a:t>0</a:t>
            </a:r>
            <a:endParaRPr lang="en-US" sz="6000" dirty="0"/>
          </a:p>
        </p:txBody>
      </p:sp>
      <p:sp>
        <p:nvSpPr>
          <p:cNvPr id="7" name="Text 4"/>
          <p:cNvSpPr/>
          <p:nvPr/>
        </p:nvSpPr>
        <p:spPr>
          <a:xfrm>
            <a:off x="1117600" y="4140200"/>
            <a:ext cx="277317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5E6B61"/>
                </a:solidFill>
                <a:latin typeface="Inter" pitchFamily="34" charset="0"/>
                <a:ea typeface="Inter" pitchFamily="34" charset="-122"/>
                <a:cs typeface="Inter" pitchFamily="34" charset="-120"/>
              </a:rPr>
              <a:t>valores nulos</a:t>
            </a:r>
            <a:endParaRPr lang="en-US" sz="1600" dirty="0"/>
          </a:p>
        </p:txBody>
      </p:sp>
      <p:sp>
        <p:nvSpPr>
          <p:cNvPr id="8" name="Shape 5"/>
          <p:cNvSpPr/>
          <p:nvPr/>
        </p:nvSpPr>
        <p:spPr>
          <a:xfrm>
            <a:off x="4445000" y="2540000"/>
            <a:ext cx="3302000" cy="2164080"/>
          </a:xfrm>
          <a:prstGeom prst="roundRect">
            <a:avLst>
              <a:gd name="adj" fmla="val 7042"/>
            </a:avLst>
          </a:prstGeom>
          <a:solidFill>
            <a:srgbClr val="FFFDF7"/>
          </a:solidFill>
          <a:ln/>
        </p:spPr>
        <p:txBody>
          <a:bodyPr/>
          <a:lstStyle/>
          <a:p>
            <a:endParaRPr lang="es-CO"/>
          </a:p>
        </p:txBody>
      </p:sp>
      <p:pic>
        <p:nvPicPr>
          <p:cNvPr id="9" name="Image 1" descr="CheckCircle"/>
          <p:cNvPicPr>
            <a:picLocks noChangeAspect="1"/>
          </p:cNvPicPr>
          <p:nvPr/>
        </p:nvPicPr>
        <p:blipFill>
          <a:blip r:embed="rId3"/>
          <a:srcRect/>
          <a:stretch/>
        </p:blipFill>
        <p:spPr>
          <a:xfrm>
            <a:off x="4749800" y="2819400"/>
            <a:ext cx="355600" cy="355600"/>
          </a:xfrm>
          <a:prstGeom prst="rect">
            <a:avLst/>
          </a:prstGeom>
        </p:spPr>
      </p:pic>
      <p:sp>
        <p:nvSpPr>
          <p:cNvPr id="10" name="Text 6"/>
          <p:cNvSpPr/>
          <p:nvPr/>
        </p:nvSpPr>
        <p:spPr>
          <a:xfrm>
            <a:off x="4749800" y="3276600"/>
            <a:ext cx="277317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E3A2C"/>
                </a:solidFill>
                <a:latin typeface="Fraunces" pitchFamily="18" charset="0"/>
                <a:ea typeface="Fraunces" pitchFamily="18" charset="-122"/>
                <a:cs typeface="Fraunces" pitchFamily="18" charset="-120"/>
              </a:rPr>
              <a:t>0</a:t>
            </a:r>
            <a:endParaRPr lang="en-US" sz="6000" dirty="0"/>
          </a:p>
        </p:txBody>
      </p:sp>
      <p:sp>
        <p:nvSpPr>
          <p:cNvPr id="11" name="Text 7"/>
          <p:cNvSpPr/>
          <p:nvPr/>
        </p:nvSpPr>
        <p:spPr>
          <a:xfrm>
            <a:off x="4749800" y="4140200"/>
            <a:ext cx="277317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5E6B61"/>
                </a:solidFill>
                <a:latin typeface="Inter" pitchFamily="34" charset="0"/>
                <a:ea typeface="Inter" pitchFamily="34" charset="-122"/>
                <a:cs typeface="Inter" pitchFamily="34" charset="-120"/>
              </a:rPr>
              <a:t>filas duplicadas</a:t>
            </a:r>
            <a:endParaRPr lang="en-US" sz="1600" dirty="0"/>
          </a:p>
        </p:txBody>
      </p:sp>
      <p:sp>
        <p:nvSpPr>
          <p:cNvPr id="12" name="Shape 8"/>
          <p:cNvSpPr/>
          <p:nvPr/>
        </p:nvSpPr>
        <p:spPr>
          <a:xfrm>
            <a:off x="8077200" y="2540000"/>
            <a:ext cx="3302000" cy="2164080"/>
          </a:xfrm>
          <a:prstGeom prst="roundRect">
            <a:avLst>
              <a:gd name="adj" fmla="val 7042"/>
            </a:avLst>
          </a:prstGeom>
          <a:solidFill>
            <a:srgbClr val="FFFDF7"/>
          </a:solidFill>
          <a:ln/>
        </p:spPr>
        <p:txBody>
          <a:bodyPr/>
          <a:lstStyle/>
          <a:p>
            <a:endParaRPr lang="es-CO"/>
          </a:p>
        </p:txBody>
      </p:sp>
      <p:pic>
        <p:nvPicPr>
          <p:cNvPr id="13" name="Image 2" descr="CheckCircle"/>
          <p:cNvPicPr>
            <a:picLocks noChangeAspect="1"/>
          </p:cNvPicPr>
          <p:nvPr/>
        </p:nvPicPr>
        <p:blipFill>
          <a:blip r:embed="rId3"/>
          <a:srcRect/>
          <a:stretch/>
        </p:blipFill>
        <p:spPr>
          <a:xfrm>
            <a:off x="8382000" y="2819400"/>
            <a:ext cx="355600" cy="355600"/>
          </a:xfrm>
          <a:prstGeom prst="rect">
            <a:avLst/>
          </a:prstGeom>
        </p:spPr>
      </p:pic>
      <p:sp>
        <p:nvSpPr>
          <p:cNvPr id="14" name="Text 9"/>
          <p:cNvSpPr/>
          <p:nvPr/>
        </p:nvSpPr>
        <p:spPr>
          <a:xfrm>
            <a:off x="8382000" y="3276600"/>
            <a:ext cx="277317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E3A2C"/>
                </a:solidFill>
                <a:latin typeface="Fraunces" pitchFamily="18" charset="0"/>
                <a:ea typeface="Fraunces" pitchFamily="18" charset="-122"/>
                <a:cs typeface="Fraunces" pitchFamily="18" charset="-120"/>
              </a:rPr>
              <a:t>100</a:t>
            </a:r>
            <a:endParaRPr lang="en-US" sz="6000" dirty="0"/>
          </a:p>
        </p:txBody>
      </p:sp>
      <p:sp>
        <p:nvSpPr>
          <p:cNvPr id="15" name="Text 10"/>
          <p:cNvSpPr/>
          <p:nvPr/>
        </p:nvSpPr>
        <p:spPr>
          <a:xfrm>
            <a:off x="8382000" y="4140200"/>
            <a:ext cx="277317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5E6B61"/>
                </a:solidFill>
                <a:latin typeface="Inter" pitchFamily="34" charset="0"/>
                <a:ea typeface="Inter" pitchFamily="34" charset="-122"/>
                <a:cs typeface="Inter" pitchFamily="34" charset="-120"/>
              </a:rPr>
              <a:t>parcelas por cultivo</a:t>
            </a:r>
            <a:endParaRPr lang="en-US" sz="1600" dirty="0"/>
          </a:p>
        </p:txBody>
      </p:sp>
      <p:sp>
        <p:nvSpPr>
          <p:cNvPr id="16" name="Text 11"/>
          <p:cNvSpPr/>
          <p:nvPr/>
        </p:nvSpPr>
        <p:spPr>
          <a:xfrm>
            <a:off x="812800" y="508000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E6B61"/>
                </a:solidFill>
                <a:latin typeface="Inter" pitchFamily="34" charset="0"/>
                <a:ea typeface="Inter" pitchFamily="34" charset="-122"/>
                <a:cs typeface="Inter" pitchFamily="34" charset="-120"/>
              </a:rPr>
              <a:t>Clases equilibradas → la </a:t>
            </a:r>
            <a:r>
              <a:rPr lang="en-US" sz="1600" b="1" dirty="0">
                <a:solidFill>
                  <a:srgbClr val="1C2620"/>
                </a:solidFill>
                <a:latin typeface="Inter" pitchFamily="34" charset="0"/>
                <a:ea typeface="Inter" pitchFamily="34" charset="-122"/>
                <a:cs typeface="Inter" pitchFamily="34" charset="-120"/>
              </a:rPr>
              <a:t>accuracy</a:t>
            </a:r>
            <a:r>
              <a:rPr lang="en-US" sz="1600" dirty="0">
                <a:solidFill>
                  <a:srgbClr val="5E6B61"/>
                </a:solidFill>
                <a:latin typeface="Inter" pitchFamily="34" charset="0"/>
                <a:ea typeface="Inter" pitchFamily="34" charset="-122"/>
                <a:cs typeface="Inter" pitchFamily="34" charset="-120"/>
              </a:rPr>
              <a:t> es una métrica fiable y el modelo no favorece a ningún cultivo.</a:t>
            </a:r>
            <a:endParaRPr lang="en-US" sz="1600" dirty="0"/>
          </a:p>
        </p:txBody>
      </p:sp>
      <p:sp>
        <p:nvSpPr>
          <p:cNvPr id="17" name="Text 12"/>
          <p:cNvSpPr/>
          <p:nvPr/>
        </p:nvSpPr>
        <p:spPr>
          <a:xfrm>
            <a:off x="812800" y="6230621"/>
            <a:ext cx="8869799"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E7B71"/>
                </a:solidFill>
                <a:latin typeface="Inter" pitchFamily="34" charset="0"/>
                <a:ea typeface="Inter" pitchFamily="34" charset="-122"/>
                <a:cs typeface="Inter" pitchFamily="34" charset="-120"/>
              </a:rPr>
              <a:t>NEGOCIO   ·   </a:t>
            </a:r>
            <a:r>
              <a:rPr lang="en-US" sz="1200" b="1" kern="0" spc="100" dirty="0">
                <a:solidFill>
                  <a:srgbClr val="1E3A2C"/>
                </a:solidFill>
                <a:latin typeface="Inter" pitchFamily="34" charset="0"/>
                <a:ea typeface="Inter" pitchFamily="34" charset="-122"/>
                <a:cs typeface="Inter" pitchFamily="34" charset="-120"/>
              </a:rPr>
              <a:t>DATOS</a:t>
            </a:r>
            <a:r>
              <a:rPr lang="en-US" sz="1200" kern="0" spc="100" dirty="0">
                <a:solidFill>
                  <a:srgbClr val="6E7B71"/>
                </a:solidFill>
                <a:latin typeface="Inter" pitchFamily="34" charset="0"/>
                <a:ea typeface="Inter" pitchFamily="34" charset="-122"/>
                <a:cs typeface="Inter" pitchFamily="34" charset="-120"/>
              </a:rPr>
              <a:t>   ·   PREPARACIÓN   ·   MODELADO   ·   EVALUACIÓN   ·   DESPLIEGUE</a:t>
            </a:r>
            <a:endParaRPr lang="en-US" sz="1200" dirty="0"/>
          </a:p>
        </p:txBody>
      </p:sp>
      <p:sp>
        <p:nvSpPr>
          <p:cNvPr id="18" name="Text 13"/>
          <p:cNvSpPr/>
          <p:nvPr/>
        </p:nvSpPr>
        <p:spPr>
          <a:xfrm>
            <a:off x="10794079" y="6230621"/>
            <a:ext cx="585121"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E7B71"/>
                </a:solidFill>
                <a:latin typeface="Inter" pitchFamily="34" charset="0"/>
                <a:ea typeface="Inter" pitchFamily="34" charset="-122"/>
                <a:cs typeface="Inter" pitchFamily="34" charset="-120"/>
              </a:rPr>
              <a:t>06 / 18</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9A5B0B"/>
                </a:solidFill>
                <a:latin typeface="Inter" pitchFamily="34" charset="0"/>
                <a:ea typeface="Inter" pitchFamily="34" charset="-122"/>
                <a:cs typeface="Inter" pitchFamily="34" charset="-120"/>
              </a:rPr>
              <a:t>ANÁLISIS EXPLORATORIO</a:t>
            </a:r>
            <a:endParaRPr lang="en-US" sz="1200" dirty="0"/>
          </a:p>
        </p:txBody>
      </p:sp>
      <p:sp>
        <p:nvSpPr>
          <p:cNvPr id="3" name="Text 1"/>
          <p:cNvSpPr>
            <a:spLocks noGrp="1"/>
          </p:cNvSpPr>
          <p:nvPr>
            <p:ph type="title"/>
          </p:nvPr>
        </p:nvSpPr>
        <p:spPr>
          <a:xfrm>
            <a:off x="812800" y="1153161"/>
            <a:ext cx="10883392" cy="519113"/>
          </a:xfrm>
          <a:prstGeom prst="rect">
            <a:avLst/>
          </a:prstGeom>
          <a:noFill/>
          <a:ln/>
        </p:spPr>
        <p:txBody>
          <a:bodyPr wrap="square" lIns="0" tIns="0" rIns="0" bIns="0" rtlCol="0" anchor="t">
            <a:normAutofit/>
          </a:bodyPr>
          <a:lstStyle/>
          <a:p>
            <a:pPr marL="0" indent="0" algn="l">
              <a:lnSpc>
                <a:spcPts val="3888"/>
              </a:lnSpc>
              <a:buNone/>
            </a:pPr>
            <a:r>
              <a:rPr lang="en-US" sz="3600" b="1" i="0" dirty="0">
                <a:solidFill>
                  <a:srgbClr val="1C2620"/>
                </a:solidFill>
                <a:latin typeface="Fraunces" pitchFamily="18" charset="0"/>
                <a:ea typeface="Fraunces" pitchFamily="18" charset="-122"/>
                <a:cs typeface="Fraunces" pitchFamily="18" charset="-120"/>
              </a:rPr>
              <a:t>Cada cultivo tiene un perfil propio</a:t>
            </a:r>
            <a:endParaRPr lang="en-US" sz="3600" dirty="0"/>
          </a:p>
        </p:txBody>
      </p:sp>
      <p:sp>
        <p:nvSpPr>
          <p:cNvPr id="4" name="Text 2"/>
          <p:cNvSpPr/>
          <p:nvPr/>
        </p:nvSpPr>
        <p:spPr>
          <a:xfrm>
            <a:off x="2463800" y="1839913"/>
            <a:ext cx="129540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5E6B61"/>
                </a:solidFill>
                <a:latin typeface="Inter" pitchFamily="34" charset="0"/>
                <a:ea typeface="Inter" pitchFamily="34" charset="-122"/>
                <a:cs typeface="Inter" pitchFamily="34" charset="-120"/>
              </a:rPr>
              <a:t>Nitrógeno</a:t>
            </a:r>
            <a:endParaRPr lang="en-US" sz="1200" dirty="0"/>
          </a:p>
        </p:txBody>
      </p:sp>
      <p:sp>
        <p:nvSpPr>
          <p:cNvPr id="5" name="Text 3"/>
          <p:cNvSpPr/>
          <p:nvPr/>
        </p:nvSpPr>
        <p:spPr>
          <a:xfrm>
            <a:off x="3733800" y="1839913"/>
            <a:ext cx="129540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5E6B61"/>
                </a:solidFill>
                <a:latin typeface="Inter" pitchFamily="34" charset="0"/>
                <a:ea typeface="Inter" pitchFamily="34" charset="-122"/>
                <a:cs typeface="Inter" pitchFamily="34" charset="-120"/>
              </a:rPr>
              <a:t>Fósforo</a:t>
            </a:r>
            <a:endParaRPr lang="en-US" sz="1200" dirty="0"/>
          </a:p>
        </p:txBody>
      </p:sp>
      <p:sp>
        <p:nvSpPr>
          <p:cNvPr id="6" name="Text 4"/>
          <p:cNvSpPr/>
          <p:nvPr/>
        </p:nvSpPr>
        <p:spPr>
          <a:xfrm>
            <a:off x="5003800" y="1839913"/>
            <a:ext cx="129540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5E6B61"/>
                </a:solidFill>
                <a:latin typeface="Inter" pitchFamily="34" charset="0"/>
                <a:ea typeface="Inter" pitchFamily="34" charset="-122"/>
                <a:cs typeface="Inter" pitchFamily="34" charset="-120"/>
              </a:rPr>
              <a:t>Potasio</a:t>
            </a:r>
            <a:endParaRPr lang="en-US" sz="1200" dirty="0"/>
          </a:p>
        </p:txBody>
      </p:sp>
      <p:sp>
        <p:nvSpPr>
          <p:cNvPr id="7" name="Text 5"/>
          <p:cNvSpPr/>
          <p:nvPr/>
        </p:nvSpPr>
        <p:spPr>
          <a:xfrm>
            <a:off x="6273800" y="1839913"/>
            <a:ext cx="129540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5E6B61"/>
                </a:solidFill>
                <a:latin typeface="Inter" pitchFamily="34" charset="0"/>
                <a:ea typeface="Inter" pitchFamily="34" charset="-122"/>
                <a:cs typeface="Inter" pitchFamily="34" charset="-120"/>
              </a:rPr>
              <a:t>Temp. °C</a:t>
            </a:r>
            <a:endParaRPr lang="en-US" sz="1200" dirty="0"/>
          </a:p>
        </p:txBody>
      </p:sp>
      <p:sp>
        <p:nvSpPr>
          <p:cNvPr id="8" name="Text 6"/>
          <p:cNvSpPr/>
          <p:nvPr/>
        </p:nvSpPr>
        <p:spPr>
          <a:xfrm>
            <a:off x="7543800" y="1839913"/>
            <a:ext cx="129540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5E6B61"/>
                </a:solidFill>
                <a:latin typeface="Inter" pitchFamily="34" charset="0"/>
                <a:ea typeface="Inter" pitchFamily="34" charset="-122"/>
                <a:cs typeface="Inter" pitchFamily="34" charset="-120"/>
              </a:rPr>
              <a:t>Humedad %</a:t>
            </a:r>
            <a:endParaRPr lang="en-US" sz="1200" dirty="0"/>
          </a:p>
        </p:txBody>
      </p:sp>
      <p:sp>
        <p:nvSpPr>
          <p:cNvPr id="9" name="Text 7"/>
          <p:cNvSpPr/>
          <p:nvPr/>
        </p:nvSpPr>
        <p:spPr>
          <a:xfrm>
            <a:off x="8813800" y="1839913"/>
            <a:ext cx="129540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5E6B61"/>
                </a:solidFill>
                <a:latin typeface="Inter" pitchFamily="34" charset="0"/>
                <a:ea typeface="Inter" pitchFamily="34" charset="-122"/>
                <a:cs typeface="Inter" pitchFamily="34" charset="-120"/>
              </a:rPr>
              <a:t>pH</a:t>
            </a:r>
            <a:endParaRPr lang="en-US" sz="1200" dirty="0"/>
          </a:p>
        </p:txBody>
      </p:sp>
      <p:sp>
        <p:nvSpPr>
          <p:cNvPr id="10" name="Text 8"/>
          <p:cNvSpPr/>
          <p:nvPr/>
        </p:nvSpPr>
        <p:spPr>
          <a:xfrm>
            <a:off x="10083800" y="1839913"/>
            <a:ext cx="129540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5E6B61"/>
                </a:solidFill>
                <a:latin typeface="Inter" pitchFamily="34" charset="0"/>
                <a:ea typeface="Inter" pitchFamily="34" charset="-122"/>
                <a:cs typeface="Inter" pitchFamily="34" charset="-120"/>
              </a:rPr>
              <a:t>Lluvia mm</a:t>
            </a:r>
            <a:endParaRPr lang="en-US" sz="1200" dirty="0"/>
          </a:p>
        </p:txBody>
      </p:sp>
      <p:sp>
        <p:nvSpPr>
          <p:cNvPr id="11" name="Text 9"/>
          <p:cNvSpPr/>
          <p:nvPr/>
        </p:nvSpPr>
        <p:spPr>
          <a:xfrm>
            <a:off x="812800" y="2114234"/>
            <a:ext cx="1701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C2620"/>
                </a:solidFill>
                <a:latin typeface="Inter" pitchFamily="34" charset="0"/>
                <a:ea typeface="Inter" pitchFamily="34" charset="-122"/>
                <a:cs typeface="Inter" pitchFamily="34" charset="-120"/>
              </a:rPr>
              <a:t>Arroz</a:t>
            </a:r>
            <a:endParaRPr lang="en-US" sz="1600" dirty="0"/>
          </a:p>
        </p:txBody>
      </p:sp>
      <p:sp>
        <p:nvSpPr>
          <p:cNvPr id="12" name="Text 10"/>
          <p:cNvSpPr/>
          <p:nvPr/>
        </p:nvSpPr>
        <p:spPr>
          <a:xfrm>
            <a:off x="2489200" y="2078673"/>
            <a:ext cx="1244600" cy="355600"/>
          </a:xfrm>
          <a:prstGeom prst="roundRect">
            <a:avLst>
              <a:gd name="adj" fmla="val 14286"/>
            </a:avLst>
          </a:prstGeom>
          <a:solidFill>
            <a:srgbClr val="7EA168"/>
          </a:solidFill>
          <a:ln/>
        </p:spPr>
        <p:txBody>
          <a:bodyPr wrap="square" lIns="0" tIns="0" rIns="0" bIns="0" rtlCol="0" anchor="ctr">
            <a:normAutofit/>
          </a:bodyPr>
          <a:lstStyle/>
          <a:p>
            <a:pPr marL="0" indent="0" algn="ctr">
              <a:lnSpc>
                <a:spcPts val="2240"/>
              </a:lnSpc>
              <a:buNone/>
            </a:pPr>
            <a:r>
              <a:rPr lang="en-US" sz="1600" b="1" dirty="0">
                <a:solidFill>
                  <a:srgbClr val="F5F2EA"/>
                </a:solidFill>
                <a:latin typeface="Inter" pitchFamily="34" charset="0"/>
                <a:ea typeface="Inter" pitchFamily="34" charset="-122"/>
                <a:cs typeface="Inter" pitchFamily="34" charset="-120"/>
              </a:rPr>
              <a:t>79,9</a:t>
            </a:r>
            <a:endParaRPr lang="en-US" sz="1600" dirty="0"/>
          </a:p>
        </p:txBody>
      </p:sp>
      <p:sp>
        <p:nvSpPr>
          <p:cNvPr id="13" name="Text 11"/>
          <p:cNvSpPr/>
          <p:nvPr/>
        </p:nvSpPr>
        <p:spPr>
          <a:xfrm>
            <a:off x="3759200" y="2078673"/>
            <a:ext cx="1244600" cy="355600"/>
          </a:xfrm>
          <a:prstGeom prst="roundRect">
            <a:avLst>
              <a:gd name="adj" fmla="val 14286"/>
            </a:avLst>
          </a:prstGeom>
          <a:solidFill>
            <a:srgbClr val="C4D5A8"/>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47,6</a:t>
            </a:r>
            <a:endParaRPr lang="en-US" sz="1600" dirty="0"/>
          </a:p>
        </p:txBody>
      </p:sp>
      <p:sp>
        <p:nvSpPr>
          <p:cNvPr id="14" name="Text 12"/>
          <p:cNvSpPr/>
          <p:nvPr/>
        </p:nvSpPr>
        <p:spPr>
          <a:xfrm>
            <a:off x="5029200" y="2078673"/>
            <a:ext cx="1244600" cy="355600"/>
          </a:xfrm>
          <a:prstGeom prst="roundRect">
            <a:avLst>
              <a:gd name="adj" fmla="val 14286"/>
            </a:avLst>
          </a:prstGeom>
          <a:solidFill>
            <a:srgbClr val="D6DEBD"/>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39,9</a:t>
            </a:r>
            <a:endParaRPr lang="en-US" sz="1600" dirty="0"/>
          </a:p>
        </p:txBody>
      </p:sp>
      <p:sp>
        <p:nvSpPr>
          <p:cNvPr id="15" name="Text 13"/>
          <p:cNvSpPr/>
          <p:nvPr/>
        </p:nvSpPr>
        <p:spPr>
          <a:xfrm>
            <a:off x="6299200" y="2078673"/>
            <a:ext cx="1244600" cy="355600"/>
          </a:xfrm>
          <a:prstGeom prst="roundRect">
            <a:avLst>
              <a:gd name="adj" fmla="val 14286"/>
            </a:avLst>
          </a:prstGeom>
          <a:solidFill>
            <a:srgbClr val="BACF9C"/>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23,7</a:t>
            </a:r>
            <a:endParaRPr lang="en-US" sz="1600" dirty="0"/>
          </a:p>
        </p:txBody>
      </p:sp>
      <p:sp>
        <p:nvSpPr>
          <p:cNvPr id="16" name="Text 14"/>
          <p:cNvSpPr/>
          <p:nvPr/>
        </p:nvSpPr>
        <p:spPr>
          <a:xfrm>
            <a:off x="7569200" y="2078673"/>
            <a:ext cx="1244600" cy="355600"/>
          </a:xfrm>
          <a:prstGeom prst="roundRect">
            <a:avLst>
              <a:gd name="adj" fmla="val 14286"/>
            </a:avLst>
          </a:prstGeom>
          <a:solidFill>
            <a:srgbClr val="466545"/>
          </a:solidFill>
          <a:ln/>
        </p:spPr>
        <p:txBody>
          <a:bodyPr wrap="square" lIns="0" tIns="0" rIns="0" bIns="0" rtlCol="0" anchor="ctr">
            <a:normAutofit/>
          </a:bodyPr>
          <a:lstStyle/>
          <a:p>
            <a:pPr marL="0" indent="0" algn="ctr">
              <a:lnSpc>
                <a:spcPts val="2240"/>
              </a:lnSpc>
              <a:buNone/>
            </a:pPr>
            <a:r>
              <a:rPr lang="en-US" sz="1600" b="1" dirty="0">
                <a:solidFill>
                  <a:srgbClr val="F5F2EA"/>
                </a:solidFill>
                <a:latin typeface="Inter" pitchFamily="34" charset="0"/>
                <a:ea typeface="Inter" pitchFamily="34" charset="-122"/>
                <a:cs typeface="Inter" pitchFamily="34" charset="-120"/>
              </a:rPr>
              <a:t>82,3</a:t>
            </a:r>
            <a:endParaRPr lang="en-US" sz="1600" dirty="0"/>
          </a:p>
        </p:txBody>
      </p:sp>
      <p:sp>
        <p:nvSpPr>
          <p:cNvPr id="17" name="Text 15"/>
          <p:cNvSpPr/>
          <p:nvPr/>
        </p:nvSpPr>
        <p:spPr>
          <a:xfrm>
            <a:off x="8839200" y="2078673"/>
            <a:ext cx="1244600" cy="355600"/>
          </a:xfrm>
          <a:prstGeom prst="roundRect">
            <a:avLst>
              <a:gd name="adj" fmla="val 14286"/>
            </a:avLst>
          </a:prstGeom>
          <a:solidFill>
            <a:srgbClr val="A6C586"/>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6,4</a:t>
            </a:r>
            <a:endParaRPr lang="en-US" sz="1600" dirty="0"/>
          </a:p>
        </p:txBody>
      </p:sp>
      <p:sp>
        <p:nvSpPr>
          <p:cNvPr id="18" name="Text 16"/>
          <p:cNvSpPr/>
          <p:nvPr/>
        </p:nvSpPr>
        <p:spPr>
          <a:xfrm>
            <a:off x="10109200" y="2078673"/>
            <a:ext cx="1244600" cy="355600"/>
          </a:xfrm>
          <a:prstGeom prst="roundRect">
            <a:avLst>
              <a:gd name="adj" fmla="val 14286"/>
            </a:avLst>
          </a:prstGeom>
          <a:solidFill>
            <a:srgbClr val="1E3A2C"/>
          </a:solidFill>
          <a:ln/>
        </p:spPr>
        <p:txBody>
          <a:bodyPr wrap="square" lIns="0" tIns="0" rIns="0" bIns="0" rtlCol="0" anchor="ctr">
            <a:normAutofit/>
          </a:bodyPr>
          <a:lstStyle/>
          <a:p>
            <a:pPr marL="0" indent="0" algn="ctr">
              <a:lnSpc>
                <a:spcPts val="2240"/>
              </a:lnSpc>
              <a:buNone/>
            </a:pPr>
            <a:r>
              <a:rPr lang="en-US" sz="1600" b="1" dirty="0">
                <a:solidFill>
                  <a:srgbClr val="F5F2EA"/>
                </a:solidFill>
                <a:latin typeface="Inter" pitchFamily="34" charset="0"/>
                <a:ea typeface="Inter" pitchFamily="34" charset="-122"/>
                <a:cs typeface="Inter" pitchFamily="34" charset="-120"/>
              </a:rPr>
              <a:t>236,2</a:t>
            </a:r>
            <a:endParaRPr lang="en-US" sz="1600" dirty="0"/>
          </a:p>
        </p:txBody>
      </p:sp>
      <p:sp>
        <p:nvSpPr>
          <p:cNvPr id="19" name="Text 17"/>
          <p:cNvSpPr/>
          <p:nvPr/>
        </p:nvSpPr>
        <p:spPr>
          <a:xfrm>
            <a:off x="812800" y="2495234"/>
            <a:ext cx="1701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C2620"/>
                </a:solidFill>
                <a:latin typeface="Inter" pitchFamily="34" charset="0"/>
                <a:ea typeface="Inter" pitchFamily="34" charset="-122"/>
                <a:cs typeface="Inter" pitchFamily="34" charset="-120"/>
              </a:rPr>
              <a:t>Coco</a:t>
            </a:r>
            <a:endParaRPr lang="en-US" sz="1600" dirty="0"/>
          </a:p>
        </p:txBody>
      </p:sp>
      <p:sp>
        <p:nvSpPr>
          <p:cNvPr id="20" name="Text 18"/>
          <p:cNvSpPr/>
          <p:nvPr/>
        </p:nvSpPr>
        <p:spPr>
          <a:xfrm>
            <a:off x="2489200" y="2459673"/>
            <a:ext cx="1244600" cy="355600"/>
          </a:xfrm>
          <a:prstGeom prst="roundRect">
            <a:avLst>
              <a:gd name="adj" fmla="val 14286"/>
            </a:avLst>
          </a:prstGeom>
          <a:solidFill>
            <a:srgbClr val="EBE9D6"/>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22,0</a:t>
            </a:r>
            <a:endParaRPr lang="en-US" sz="1600" dirty="0"/>
          </a:p>
        </p:txBody>
      </p:sp>
      <p:sp>
        <p:nvSpPr>
          <p:cNvPr id="21" name="Text 19"/>
          <p:cNvSpPr/>
          <p:nvPr/>
        </p:nvSpPr>
        <p:spPr>
          <a:xfrm>
            <a:off x="3759200" y="2459673"/>
            <a:ext cx="1244600" cy="355600"/>
          </a:xfrm>
          <a:prstGeom prst="roundRect">
            <a:avLst>
              <a:gd name="adj" fmla="val 14286"/>
            </a:avLst>
          </a:prstGeom>
          <a:solidFill>
            <a:srgbClr val="F0ECDC"/>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16,9</a:t>
            </a:r>
            <a:endParaRPr lang="en-US" sz="1600" dirty="0"/>
          </a:p>
        </p:txBody>
      </p:sp>
      <p:sp>
        <p:nvSpPr>
          <p:cNvPr id="22" name="Text 20"/>
          <p:cNvSpPr/>
          <p:nvPr/>
        </p:nvSpPr>
        <p:spPr>
          <a:xfrm>
            <a:off x="5029200" y="2459673"/>
            <a:ext cx="1244600" cy="355600"/>
          </a:xfrm>
          <a:prstGeom prst="roundRect">
            <a:avLst>
              <a:gd name="adj" fmla="val 14286"/>
            </a:avLst>
          </a:prstGeom>
          <a:solidFill>
            <a:srgbClr val="DEE2C7"/>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30,6</a:t>
            </a:r>
            <a:endParaRPr lang="en-US" sz="1600" dirty="0"/>
          </a:p>
        </p:txBody>
      </p:sp>
      <p:sp>
        <p:nvSpPr>
          <p:cNvPr id="23" name="Text 21"/>
          <p:cNvSpPr/>
          <p:nvPr/>
        </p:nvSpPr>
        <p:spPr>
          <a:xfrm>
            <a:off x="6299200" y="2459673"/>
            <a:ext cx="1244600" cy="355600"/>
          </a:xfrm>
          <a:prstGeom prst="roundRect">
            <a:avLst>
              <a:gd name="adj" fmla="val 14286"/>
            </a:avLst>
          </a:prstGeom>
          <a:solidFill>
            <a:srgbClr val="89AC6E"/>
          </a:solidFill>
          <a:ln/>
        </p:spPr>
        <p:txBody>
          <a:bodyPr wrap="square" lIns="0" tIns="0" rIns="0" bIns="0" rtlCol="0" anchor="ctr">
            <a:normAutofit/>
          </a:bodyPr>
          <a:lstStyle/>
          <a:p>
            <a:pPr marL="0" indent="0" algn="ctr">
              <a:lnSpc>
                <a:spcPts val="2240"/>
              </a:lnSpc>
              <a:buNone/>
            </a:pPr>
            <a:r>
              <a:rPr lang="en-US" sz="1600" b="1" dirty="0">
                <a:solidFill>
                  <a:srgbClr val="F5F2EA"/>
                </a:solidFill>
                <a:latin typeface="Inter" pitchFamily="34" charset="0"/>
                <a:ea typeface="Inter" pitchFamily="34" charset="-122"/>
                <a:cs typeface="Inter" pitchFamily="34" charset="-120"/>
              </a:rPr>
              <a:t>27,4</a:t>
            </a:r>
            <a:endParaRPr lang="en-US" sz="1600" dirty="0"/>
          </a:p>
        </p:txBody>
      </p:sp>
      <p:sp>
        <p:nvSpPr>
          <p:cNvPr id="24" name="Text 22"/>
          <p:cNvSpPr/>
          <p:nvPr/>
        </p:nvSpPr>
        <p:spPr>
          <a:xfrm>
            <a:off x="7569200" y="2459673"/>
            <a:ext cx="1244600" cy="355600"/>
          </a:xfrm>
          <a:prstGeom prst="roundRect">
            <a:avLst>
              <a:gd name="adj" fmla="val 14286"/>
            </a:avLst>
          </a:prstGeom>
          <a:solidFill>
            <a:srgbClr val="1E3A2C"/>
          </a:solidFill>
          <a:ln/>
        </p:spPr>
        <p:txBody>
          <a:bodyPr wrap="square" lIns="0" tIns="0" rIns="0" bIns="0" rtlCol="0" anchor="ctr">
            <a:normAutofit/>
          </a:bodyPr>
          <a:lstStyle/>
          <a:p>
            <a:pPr marL="0" indent="0" algn="ctr">
              <a:lnSpc>
                <a:spcPts val="2240"/>
              </a:lnSpc>
              <a:buNone/>
            </a:pPr>
            <a:r>
              <a:rPr lang="en-US" sz="1600" b="1" dirty="0">
                <a:solidFill>
                  <a:srgbClr val="F5F2EA"/>
                </a:solidFill>
                <a:latin typeface="Inter" pitchFamily="34" charset="0"/>
                <a:ea typeface="Inter" pitchFamily="34" charset="-122"/>
                <a:cs typeface="Inter" pitchFamily="34" charset="-120"/>
              </a:rPr>
              <a:t>94,8</a:t>
            </a:r>
            <a:endParaRPr lang="en-US" sz="1600" dirty="0"/>
          </a:p>
        </p:txBody>
      </p:sp>
      <p:sp>
        <p:nvSpPr>
          <p:cNvPr id="25" name="Text 23"/>
          <p:cNvSpPr/>
          <p:nvPr/>
        </p:nvSpPr>
        <p:spPr>
          <a:xfrm>
            <a:off x="8839200" y="2459673"/>
            <a:ext cx="1244600" cy="355600"/>
          </a:xfrm>
          <a:prstGeom prst="roundRect">
            <a:avLst>
              <a:gd name="adj" fmla="val 14286"/>
            </a:avLst>
          </a:prstGeom>
          <a:solidFill>
            <a:srgbClr val="D0DCB7"/>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6,0</a:t>
            </a:r>
            <a:endParaRPr lang="en-US" sz="1600" dirty="0"/>
          </a:p>
        </p:txBody>
      </p:sp>
      <p:sp>
        <p:nvSpPr>
          <p:cNvPr id="26" name="Text 24"/>
          <p:cNvSpPr/>
          <p:nvPr/>
        </p:nvSpPr>
        <p:spPr>
          <a:xfrm>
            <a:off x="10109200" y="2459673"/>
            <a:ext cx="1244600" cy="355600"/>
          </a:xfrm>
          <a:prstGeom prst="roundRect">
            <a:avLst>
              <a:gd name="adj" fmla="val 14286"/>
            </a:avLst>
          </a:prstGeom>
          <a:solidFill>
            <a:srgbClr val="668759"/>
          </a:solidFill>
          <a:ln/>
        </p:spPr>
        <p:txBody>
          <a:bodyPr wrap="square" lIns="0" tIns="0" rIns="0" bIns="0" rtlCol="0" anchor="ctr">
            <a:normAutofit/>
          </a:bodyPr>
          <a:lstStyle/>
          <a:p>
            <a:pPr marL="0" indent="0" algn="ctr">
              <a:lnSpc>
                <a:spcPts val="2240"/>
              </a:lnSpc>
              <a:buNone/>
            </a:pPr>
            <a:r>
              <a:rPr lang="en-US" sz="1600" b="1" dirty="0">
                <a:solidFill>
                  <a:srgbClr val="F5F2EA"/>
                </a:solidFill>
                <a:latin typeface="Inter" pitchFamily="34" charset="0"/>
                <a:ea typeface="Inter" pitchFamily="34" charset="-122"/>
                <a:cs typeface="Inter" pitchFamily="34" charset="-120"/>
              </a:rPr>
              <a:t>175,7</a:t>
            </a:r>
            <a:endParaRPr lang="en-US" sz="1600" dirty="0"/>
          </a:p>
        </p:txBody>
      </p:sp>
      <p:sp>
        <p:nvSpPr>
          <p:cNvPr id="27" name="Text 25"/>
          <p:cNvSpPr/>
          <p:nvPr/>
        </p:nvSpPr>
        <p:spPr>
          <a:xfrm>
            <a:off x="812800" y="2876234"/>
            <a:ext cx="1701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C2620"/>
                </a:solidFill>
                <a:latin typeface="Inter" pitchFamily="34" charset="0"/>
                <a:ea typeface="Inter" pitchFamily="34" charset="-122"/>
                <a:cs typeface="Inter" pitchFamily="34" charset="-120"/>
              </a:rPr>
              <a:t>Café</a:t>
            </a:r>
            <a:endParaRPr lang="en-US" sz="1600" dirty="0"/>
          </a:p>
        </p:txBody>
      </p:sp>
      <p:sp>
        <p:nvSpPr>
          <p:cNvPr id="28" name="Text 26"/>
          <p:cNvSpPr/>
          <p:nvPr/>
        </p:nvSpPr>
        <p:spPr>
          <a:xfrm>
            <a:off x="2489200" y="2840673"/>
            <a:ext cx="1244600" cy="355600"/>
          </a:xfrm>
          <a:prstGeom prst="roundRect">
            <a:avLst>
              <a:gd name="adj" fmla="val 14286"/>
            </a:avLst>
          </a:prstGeom>
          <a:solidFill>
            <a:srgbClr val="486746"/>
          </a:solidFill>
          <a:ln/>
        </p:spPr>
        <p:txBody>
          <a:bodyPr wrap="square" lIns="0" tIns="0" rIns="0" bIns="0" rtlCol="0" anchor="ctr">
            <a:normAutofit/>
          </a:bodyPr>
          <a:lstStyle/>
          <a:p>
            <a:pPr marL="0" indent="0" algn="ctr">
              <a:lnSpc>
                <a:spcPts val="2240"/>
              </a:lnSpc>
              <a:buNone/>
            </a:pPr>
            <a:r>
              <a:rPr lang="en-US" sz="1600" b="1" dirty="0">
                <a:solidFill>
                  <a:srgbClr val="F5F2EA"/>
                </a:solidFill>
                <a:latin typeface="Inter" pitchFamily="34" charset="0"/>
                <a:ea typeface="Inter" pitchFamily="34" charset="-122"/>
                <a:cs typeface="Inter" pitchFamily="34" charset="-120"/>
              </a:rPr>
              <a:t>101,2</a:t>
            </a:r>
            <a:endParaRPr lang="en-US" sz="1600" dirty="0"/>
          </a:p>
        </p:txBody>
      </p:sp>
      <p:sp>
        <p:nvSpPr>
          <p:cNvPr id="29" name="Text 27"/>
          <p:cNvSpPr/>
          <p:nvPr/>
        </p:nvSpPr>
        <p:spPr>
          <a:xfrm>
            <a:off x="3759200" y="2840673"/>
            <a:ext cx="1244600" cy="355600"/>
          </a:xfrm>
          <a:prstGeom prst="roundRect">
            <a:avLst>
              <a:gd name="adj" fmla="val 14286"/>
            </a:avLst>
          </a:prstGeom>
          <a:solidFill>
            <a:srgbClr val="DFE3C8"/>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28,7</a:t>
            </a:r>
            <a:endParaRPr lang="en-US" sz="1600" dirty="0"/>
          </a:p>
        </p:txBody>
      </p:sp>
      <p:sp>
        <p:nvSpPr>
          <p:cNvPr id="30" name="Text 28"/>
          <p:cNvSpPr/>
          <p:nvPr/>
        </p:nvSpPr>
        <p:spPr>
          <a:xfrm>
            <a:off x="5029200" y="2840673"/>
            <a:ext cx="1244600" cy="355600"/>
          </a:xfrm>
          <a:prstGeom prst="roundRect">
            <a:avLst>
              <a:gd name="adj" fmla="val 14286"/>
            </a:avLst>
          </a:prstGeom>
          <a:solidFill>
            <a:srgbClr val="DEE3C7"/>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29,9</a:t>
            </a:r>
            <a:endParaRPr lang="en-US" sz="1600" dirty="0"/>
          </a:p>
        </p:txBody>
      </p:sp>
      <p:sp>
        <p:nvSpPr>
          <p:cNvPr id="31" name="Text 29"/>
          <p:cNvSpPr/>
          <p:nvPr/>
        </p:nvSpPr>
        <p:spPr>
          <a:xfrm>
            <a:off x="6299200" y="2840673"/>
            <a:ext cx="1244600" cy="355600"/>
          </a:xfrm>
          <a:prstGeom prst="roundRect">
            <a:avLst>
              <a:gd name="adj" fmla="val 14286"/>
            </a:avLst>
          </a:prstGeom>
          <a:solidFill>
            <a:srgbClr val="A5C585"/>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25,5</a:t>
            </a:r>
            <a:endParaRPr lang="en-US" sz="1600" dirty="0"/>
          </a:p>
        </p:txBody>
      </p:sp>
      <p:sp>
        <p:nvSpPr>
          <p:cNvPr id="32" name="Text 30"/>
          <p:cNvSpPr/>
          <p:nvPr/>
        </p:nvSpPr>
        <p:spPr>
          <a:xfrm>
            <a:off x="7569200" y="2840673"/>
            <a:ext cx="1244600" cy="355600"/>
          </a:xfrm>
          <a:prstGeom prst="roundRect">
            <a:avLst>
              <a:gd name="adj" fmla="val 14286"/>
            </a:avLst>
          </a:prstGeom>
          <a:solidFill>
            <a:srgbClr val="92B674"/>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58,9</a:t>
            </a:r>
            <a:endParaRPr lang="en-US" sz="1600" dirty="0"/>
          </a:p>
        </p:txBody>
      </p:sp>
      <p:sp>
        <p:nvSpPr>
          <p:cNvPr id="33" name="Text 31"/>
          <p:cNvSpPr/>
          <p:nvPr/>
        </p:nvSpPr>
        <p:spPr>
          <a:xfrm>
            <a:off x="8839200" y="2840673"/>
            <a:ext cx="1244600" cy="355600"/>
          </a:xfrm>
          <a:prstGeom prst="roundRect">
            <a:avLst>
              <a:gd name="adj" fmla="val 14286"/>
            </a:avLst>
          </a:prstGeom>
          <a:solidFill>
            <a:srgbClr val="6D8E5D"/>
          </a:solidFill>
          <a:ln/>
        </p:spPr>
        <p:txBody>
          <a:bodyPr wrap="square" lIns="0" tIns="0" rIns="0" bIns="0" rtlCol="0" anchor="ctr">
            <a:normAutofit/>
          </a:bodyPr>
          <a:lstStyle/>
          <a:p>
            <a:pPr marL="0" indent="0" algn="ctr">
              <a:lnSpc>
                <a:spcPts val="2240"/>
              </a:lnSpc>
              <a:buNone/>
            </a:pPr>
            <a:r>
              <a:rPr lang="en-US" sz="1600" b="1" dirty="0">
                <a:solidFill>
                  <a:srgbClr val="F5F2EA"/>
                </a:solidFill>
                <a:latin typeface="Inter" pitchFamily="34" charset="0"/>
                <a:ea typeface="Inter" pitchFamily="34" charset="-122"/>
                <a:cs typeface="Inter" pitchFamily="34" charset="-120"/>
              </a:rPr>
              <a:t>6,8</a:t>
            </a:r>
            <a:endParaRPr lang="en-US" sz="1600" dirty="0"/>
          </a:p>
        </p:txBody>
      </p:sp>
      <p:sp>
        <p:nvSpPr>
          <p:cNvPr id="34" name="Text 32"/>
          <p:cNvSpPr/>
          <p:nvPr/>
        </p:nvSpPr>
        <p:spPr>
          <a:xfrm>
            <a:off x="10109200" y="2840673"/>
            <a:ext cx="1244600" cy="355600"/>
          </a:xfrm>
          <a:prstGeom prst="roundRect">
            <a:avLst>
              <a:gd name="adj" fmla="val 14286"/>
            </a:avLst>
          </a:prstGeom>
          <a:solidFill>
            <a:srgbClr val="7B9D66"/>
          </a:solidFill>
          <a:ln/>
        </p:spPr>
        <p:txBody>
          <a:bodyPr wrap="square" lIns="0" tIns="0" rIns="0" bIns="0" rtlCol="0" anchor="ctr">
            <a:normAutofit/>
          </a:bodyPr>
          <a:lstStyle/>
          <a:p>
            <a:pPr marL="0" indent="0" algn="ctr">
              <a:lnSpc>
                <a:spcPts val="2240"/>
              </a:lnSpc>
              <a:buNone/>
            </a:pPr>
            <a:r>
              <a:rPr lang="en-US" sz="1600" b="1" dirty="0">
                <a:solidFill>
                  <a:srgbClr val="F5F2EA"/>
                </a:solidFill>
                <a:latin typeface="Inter" pitchFamily="34" charset="0"/>
                <a:ea typeface="Inter" pitchFamily="34" charset="-122"/>
                <a:cs typeface="Inter" pitchFamily="34" charset="-120"/>
              </a:rPr>
              <a:t>158,1</a:t>
            </a:r>
            <a:endParaRPr lang="en-US" sz="1600" dirty="0"/>
          </a:p>
        </p:txBody>
      </p:sp>
      <p:sp>
        <p:nvSpPr>
          <p:cNvPr id="35" name="Text 33"/>
          <p:cNvSpPr/>
          <p:nvPr/>
        </p:nvSpPr>
        <p:spPr>
          <a:xfrm>
            <a:off x="812800" y="3257234"/>
            <a:ext cx="1701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C2620"/>
                </a:solidFill>
                <a:latin typeface="Inter" pitchFamily="34" charset="0"/>
                <a:ea typeface="Inter" pitchFamily="34" charset="-122"/>
                <a:cs typeface="Inter" pitchFamily="34" charset="-120"/>
              </a:rPr>
              <a:t>Uva</a:t>
            </a:r>
            <a:endParaRPr lang="en-US" sz="1600" dirty="0"/>
          </a:p>
        </p:txBody>
      </p:sp>
      <p:sp>
        <p:nvSpPr>
          <p:cNvPr id="36" name="Text 34"/>
          <p:cNvSpPr/>
          <p:nvPr/>
        </p:nvSpPr>
        <p:spPr>
          <a:xfrm>
            <a:off x="2489200" y="3221673"/>
            <a:ext cx="1244600" cy="355600"/>
          </a:xfrm>
          <a:prstGeom prst="roundRect">
            <a:avLst>
              <a:gd name="adj" fmla="val 14286"/>
            </a:avLst>
          </a:prstGeom>
          <a:solidFill>
            <a:srgbClr val="E9E8D3"/>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23,2</a:t>
            </a:r>
            <a:endParaRPr lang="en-US" sz="1600" dirty="0"/>
          </a:p>
        </p:txBody>
      </p:sp>
      <p:sp>
        <p:nvSpPr>
          <p:cNvPr id="37" name="Text 35"/>
          <p:cNvSpPr/>
          <p:nvPr/>
        </p:nvSpPr>
        <p:spPr>
          <a:xfrm>
            <a:off x="3759200" y="3221673"/>
            <a:ext cx="1244600" cy="355600"/>
          </a:xfrm>
          <a:prstGeom prst="roundRect">
            <a:avLst>
              <a:gd name="adj" fmla="val 14286"/>
            </a:avLst>
          </a:prstGeom>
          <a:solidFill>
            <a:srgbClr val="223E2E"/>
          </a:solidFill>
          <a:ln/>
        </p:spPr>
        <p:txBody>
          <a:bodyPr wrap="square" lIns="0" tIns="0" rIns="0" bIns="0" rtlCol="0" anchor="ctr">
            <a:normAutofit/>
          </a:bodyPr>
          <a:lstStyle/>
          <a:p>
            <a:pPr marL="0" indent="0" algn="ctr">
              <a:lnSpc>
                <a:spcPts val="2240"/>
              </a:lnSpc>
              <a:buNone/>
            </a:pPr>
            <a:r>
              <a:rPr lang="en-US" sz="1600" b="1" dirty="0">
                <a:solidFill>
                  <a:srgbClr val="F5F2EA"/>
                </a:solidFill>
                <a:latin typeface="Inter" pitchFamily="34" charset="0"/>
                <a:ea typeface="Inter" pitchFamily="34" charset="-122"/>
                <a:cs typeface="Inter" pitchFamily="34" charset="-120"/>
              </a:rPr>
              <a:t>132,5</a:t>
            </a:r>
            <a:endParaRPr lang="en-US" sz="1600" dirty="0"/>
          </a:p>
        </p:txBody>
      </p:sp>
      <p:sp>
        <p:nvSpPr>
          <p:cNvPr id="38" name="Text 36"/>
          <p:cNvSpPr/>
          <p:nvPr/>
        </p:nvSpPr>
        <p:spPr>
          <a:xfrm>
            <a:off x="5029200" y="3221673"/>
            <a:ext cx="1244600" cy="355600"/>
          </a:xfrm>
          <a:prstGeom prst="roundRect">
            <a:avLst>
              <a:gd name="adj" fmla="val 14286"/>
            </a:avLst>
          </a:prstGeom>
          <a:solidFill>
            <a:srgbClr val="1E3A2C"/>
          </a:solidFill>
          <a:ln/>
        </p:spPr>
        <p:txBody>
          <a:bodyPr wrap="square" lIns="0" tIns="0" rIns="0" bIns="0" rtlCol="0" anchor="ctr">
            <a:normAutofit/>
          </a:bodyPr>
          <a:lstStyle/>
          <a:p>
            <a:pPr marL="0" indent="0" algn="ctr">
              <a:lnSpc>
                <a:spcPts val="2240"/>
              </a:lnSpc>
              <a:buNone/>
            </a:pPr>
            <a:r>
              <a:rPr lang="en-US" sz="1600" b="1" dirty="0">
                <a:solidFill>
                  <a:srgbClr val="F5F2EA"/>
                </a:solidFill>
                <a:latin typeface="Inter" pitchFamily="34" charset="0"/>
                <a:ea typeface="Inter" pitchFamily="34" charset="-122"/>
                <a:cs typeface="Inter" pitchFamily="34" charset="-120"/>
              </a:rPr>
              <a:t>200,1</a:t>
            </a:r>
            <a:endParaRPr lang="en-US" sz="1600" dirty="0"/>
          </a:p>
        </p:txBody>
      </p:sp>
      <p:sp>
        <p:nvSpPr>
          <p:cNvPr id="39" name="Text 37"/>
          <p:cNvSpPr/>
          <p:nvPr/>
        </p:nvSpPr>
        <p:spPr>
          <a:xfrm>
            <a:off x="6299200" y="3221673"/>
            <a:ext cx="1244600" cy="355600"/>
          </a:xfrm>
          <a:prstGeom prst="roundRect">
            <a:avLst>
              <a:gd name="adj" fmla="val 14286"/>
            </a:avLst>
          </a:prstGeom>
          <a:solidFill>
            <a:srgbClr val="B8CF9B"/>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23,8</a:t>
            </a:r>
            <a:endParaRPr lang="en-US" sz="1600" dirty="0"/>
          </a:p>
        </p:txBody>
      </p:sp>
      <p:sp>
        <p:nvSpPr>
          <p:cNvPr id="40" name="Text 38"/>
          <p:cNvSpPr/>
          <p:nvPr/>
        </p:nvSpPr>
        <p:spPr>
          <a:xfrm>
            <a:off x="7569200" y="3221673"/>
            <a:ext cx="1244600" cy="355600"/>
          </a:xfrm>
          <a:prstGeom prst="roundRect">
            <a:avLst>
              <a:gd name="adj" fmla="val 14286"/>
            </a:avLst>
          </a:prstGeom>
          <a:solidFill>
            <a:srgbClr val="486646"/>
          </a:solidFill>
          <a:ln/>
        </p:spPr>
        <p:txBody>
          <a:bodyPr wrap="square" lIns="0" tIns="0" rIns="0" bIns="0" rtlCol="0" anchor="ctr">
            <a:normAutofit/>
          </a:bodyPr>
          <a:lstStyle/>
          <a:p>
            <a:pPr marL="0" indent="0" algn="ctr">
              <a:lnSpc>
                <a:spcPts val="2240"/>
              </a:lnSpc>
              <a:buNone/>
            </a:pPr>
            <a:r>
              <a:rPr lang="en-US" sz="1600" b="1" dirty="0">
                <a:solidFill>
                  <a:srgbClr val="F5F2EA"/>
                </a:solidFill>
                <a:latin typeface="Inter" pitchFamily="34" charset="0"/>
                <a:ea typeface="Inter" pitchFamily="34" charset="-122"/>
                <a:cs typeface="Inter" pitchFamily="34" charset="-120"/>
              </a:rPr>
              <a:t>81,9</a:t>
            </a:r>
            <a:endParaRPr lang="en-US" sz="1600" dirty="0"/>
          </a:p>
        </p:txBody>
      </p:sp>
      <p:sp>
        <p:nvSpPr>
          <p:cNvPr id="41" name="Text 39"/>
          <p:cNvSpPr/>
          <p:nvPr/>
        </p:nvSpPr>
        <p:spPr>
          <a:xfrm>
            <a:off x="8839200" y="3221673"/>
            <a:ext cx="1244600" cy="355600"/>
          </a:xfrm>
          <a:prstGeom prst="roundRect">
            <a:avLst>
              <a:gd name="adj" fmla="val 14286"/>
            </a:avLst>
          </a:prstGeom>
          <a:solidFill>
            <a:srgbClr val="D0DCB7"/>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6,0</a:t>
            </a:r>
            <a:endParaRPr lang="en-US" sz="1600" dirty="0"/>
          </a:p>
        </p:txBody>
      </p:sp>
      <p:sp>
        <p:nvSpPr>
          <p:cNvPr id="42" name="Text 40"/>
          <p:cNvSpPr/>
          <p:nvPr/>
        </p:nvSpPr>
        <p:spPr>
          <a:xfrm>
            <a:off x="10109200" y="3221673"/>
            <a:ext cx="1244600" cy="355600"/>
          </a:xfrm>
          <a:prstGeom prst="roundRect">
            <a:avLst>
              <a:gd name="adj" fmla="val 14286"/>
            </a:avLst>
          </a:prstGeom>
          <a:solidFill>
            <a:srgbClr val="CCD9B2"/>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69,6</a:t>
            </a:r>
            <a:endParaRPr lang="en-US" sz="1600" dirty="0"/>
          </a:p>
        </p:txBody>
      </p:sp>
      <p:sp>
        <p:nvSpPr>
          <p:cNvPr id="43" name="Text 41"/>
          <p:cNvSpPr/>
          <p:nvPr/>
        </p:nvSpPr>
        <p:spPr>
          <a:xfrm>
            <a:off x="812800" y="3638234"/>
            <a:ext cx="1701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C2620"/>
                </a:solidFill>
                <a:latin typeface="Inter" pitchFamily="34" charset="0"/>
                <a:ea typeface="Inter" pitchFamily="34" charset="-122"/>
                <a:cs typeface="Inter" pitchFamily="34" charset="-120"/>
              </a:rPr>
              <a:t>Manzana</a:t>
            </a:r>
            <a:endParaRPr lang="en-US" sz="1600" dirty="0"/>
          </a:p>
        </p:txBody>
      </p:sp>
      <p:sp>
        <p:nvSpPr>
          <p:cNvPr id="44" name="Text 42"/>
          <p:cNvSpPr/>
          <p:nvPr/>
        </p:nvSpPr>
        <p:spPr>
          <a:xfrm>
            <a:off x="2489200" y="3602673"/>
            <a:ext cx="1244600" cy="355600"/>
          </a:xfrm>
          <a:prstGeom prst="roundRect">
            <a:avLst>
              <a:gd name="adj" fmla="val 14286"/>
            </a:avLst>
          </a:prstGeom>
          <a:solidFill>
            <a:srgbClr val="EDEAD8"/>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20,8</a:t>
            </a:r>
            <a:endParaRPr lang="en-US" sz="1600" dirty="0"/>
          </a:p>
        </p:txBody>
      </p:sp>
      <p:sp>
        <p:nvSpPr>
          <p:cNvPr id="45" name="Text 43"/>
          <p:cNvSpPr/>
          <p:nvPr/>
        </p:nvSpPr>
        <p:spPr>
          <a:xfrm>
            <a:off x="3759200" y="3602673"/>
            <a:ext cx="1244600" cy="355600"/>
          </a:xfrm>
          <a:prstGeom prst="roundRect">
            <a:avLst>
              <a:gd name="adj" fmla="val 14286"/>
            </a:avLst>
          </a:prstGeom>
          <a:solidFill>
            <a:srgbClr val="1E3A2C"/>
          </a:solidFill>
          <a:ln/>
        </p:spPr>
        <p:txBody>
          <a:bodyPr wrap="square" lIns="0" tIns="0" rIns="0" bIns="0" rtlCol="0" anchor="ctr">
            <a:normAutofit/>
          </a:bodyPr>
          <a:lstStyle/>
          <a:p>
            <a:pPr marL="0" indent="0" algn="ctr">
              <a:lnSpc>
                <a:spcPts val="2240"/>
              </a:lnSpc>
              <a:buNone/>
            </a:pPr>
            <a:r>
              <a:rPr lang="en-US" sz="1600" b="1" dirty="0">
                <a:solidFill>
                  <a:srgbClr val="F5F2EA"/>
                </a:solidFill>
                <a:latin typeface="Inter" pitchFamily="34" charset="0"/>
                <a:ea typeface="Inter" pitchFamily="34" charset="-122"/>
                <a:cs typeface="Inter" pitchFamily="34" charset="-120"/>
              </a:rPr>
              <a:t>134,2</a:t>
            </a:r>
            <a:endParaRPr lang="en-US" sz="1600" dirty="0"/>
          </a:p>
        </p:txBody>
      </p:sp>
      <p:sp>
        <p:nvSpPr>
          <p:cNvPr id="46" name="Text 44"/>
          <p:cNvSpPr/>
          <p:nvPr/>
        </p:nvSpPr>
        <p:spPr>
          <a:xfrm>
            <a:off x="5029200" y="3602673"/>
            <a:ext cx="1244600" cy="355600"/>
          </a:xfrm>
          <a:prstGeom prst="roundRect">
            <a:avLst>
              <a:gd name="adj" fmla="val 14286"/>
            </a:avLst>
          </a:prstGeom>
          <a:solidFill>
            <a:srgbClr val="1E3A2C"/>
          </a:solidFill>
          <a:ln/>
        </p:spPr>
        <p:txBody>
          <a:bodyPr wrap="square" lIns="0" tIns="0" rIns="0" bIns="0" rtlCol="0" anchor="ctr">
            <a:normAutofit/>
          </a:bodyPr>
          <a:lstStyle/>
          <a:p>
            <a:pPr marL="0" indent="0" algn="ctr">
              <a:lnSpc>
                <a:spcPts val="2240"/>
              </a:lnSpc>
              <a:buNone/>
            </a:pPr>
            <a:r>
              <a:rPr lang="en-US" sz="1600" b="1" dirty="0">
                <a:solidFill>
                  <a:srgbClr val="F5F2EA"/>
                </a:solidFill>
                <a:latin typeface="Inter" pitchFamily="34" charset="0"/>
                <a:ea typeface="Inter" pitchFamily="34" charset="-122"/>
                <a:cs typeface="Inter" pitchFamily="34" charset="-120"/>
              </a:rPr>
              <a:t>199,9</a:t>
            </a:r>
            <a:endParaRPr lang="en-US" sz="1600" dirty="0"/>
          </a:p>
        </p:txBody>
      </p:sp>
      <p:sp>
        <p:nvSpPr>
          <p:cNvPr id="47" name="Text 45"/>
          <p:cNvSpPr/>
          <p:nvPr/>
        </p:nvSpPr>
        <p:spPr>
          <a:xfrm>
            <a:off x="6299200" y="3602673"/>
            <a:ext cx="1244600" cy="355600"/>
          </a:xfrm>
          <a:prstGeom prst="roundRect">
            <a:avLst>
              <a:gd name="adj" fmla="val 14286"/>
            </a:avLst>
          </a:prstGeom>
          <a:solidFill>
            <a:srgbClr val="C6D6AB"/>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22,6</a:t>
            </a:r>
            <a:endParaRPr lang="en-US" sz="1600" dirty="0"/>
          </a:p>
        </p:txBody>
      </p:sp>
      <p:sp>
        <p:nvSpPr>
          <p:cNvPr id="48" name="Text 46"/>
          <p:cNvSpPr/>
          <p:nvPr/>
        </p:nvSpPr>
        <p:spPr>
          <a:xfrm>
            <a:off x="7569200" y="3602673"/>
            <a:ext cx="1244600" cy="355600"/>
          </a:xfrm>
          <a:prstGeom prst="roundRect">
            <a:avLst>
              <a:gd name="adj" fmla="val 14286"/>
            </a:avLst>
          </a:prstGeom>
          <a:solidFill>
            <a:srgbClr val="264331"/>
          </a:solidFill>
          <a:ln/>
        </p:spPr>
        <p:txBody>
          <a:bodyPr wrap="square" lIns="0" tIns="0" rIns="0" bIns="0" rtlCol="0" anchor="ctr">
            <a:normAutofit/>
          </a:bodyPr>
          <a:lstStyle/>
          <a:p>
            <a:pPr marL="0" indent="0" algn="ctr">
              <a:lnSpc>
                <a:spcPts val="2240"/>
              </a:lnSpc>
              <a:buNone/>
            </a:pPr>
            <a:r>
              <a:rPr lang="en-US" sz="1600" b="1" dirty="0">
                <a:solidFill>
                  <a:srgbClr val="F5F2EA"/>
                </a:solidFill>
                <a:latin typeface="Inter" pitchFamily="34" charset="0"/>
                <a:ea typeface="Inter" pitchFamily="34" charset="-122"/>
                <a:cs typeface="Inter" pitchFamily="34" charset="-120"/>
              </a:rPr>
              <a:t>92,3</a:t>
            </a:r>
            <a:endParaRPr lang="en-US" sz="1600" dirty="0"/>
          </a:p>
        </p:txBody>
      </p:sp>
      <p:sp>
        <p:nvSpPr>
          <p:cNvPr id="49" name="Text 47"/>
          <p:cNvSpPr/>
          <p:nvPr/>
        </p:nvSpPr>
        <p:spPr>
          <a:xfrm>
            <a:off x="8839200" y="3602673"/>
            <a:ext cx="1244600" cy="355600"/>
          </a:xfrm>
          <a:prstGeom prst="roundRect">
            <a:avLst>
              <a:gd name="adj" fmla="val 14286"/>
            </a:avLst>
          </a:prstGeom>
          <a:solidFill>
            <a:srgbClr val="DBE1C3"/>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5,9</a:t>
            </a:r>
            <a:endParaRPr lang="en-US" sz="1600" dirty="0"/>
          </a:p>
        </p:txBody>
      </p:sp>
      <p:sp>
        <p:nvSpPr>
          <p:cNvPr id="50" name="Text 48"/>
          <p:cNvSpPr/>
          <p:nvPr/>
        </p:nvSpPr>
        <p:spPr>
          <a:xfrm>
            <a:off x="10109200" y="3602673"/>
            <a:ext cx="1244600" cy="355600"/>
          </a:xfrm>
          <a:prstGeom prst="roundRect">
            <a:avLst>
              <a:gd name="adj" fmla="val 14286"/>
            </a:avLst>
          </a:prstGeom>
          <a:solidFill>
            <a:srgbClr val="AAC78A"/>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112,7</a:t>
            </a:r>
            <a:endParaRPr lang="en-US" sz="1600" dirty="0"/>
          </a:p>
        </p:txBody>
      </p:sp>
      <p:sp>
        <p:nvSpPr>
          <p:cNvPr id="51" name="Text 49"/>
          <p:cNvSpPr/>
          <p:nvPr/>
        </p:nvSpPr>
        <p:spPr>
          <a:xfrm>
            <a:off x="812800" y="4019234"/>
            <a:ext cx="1701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C2620"/>
                </a:solidFill>
                <a:latin typeface="Inter" pitchFamily="34" charset="0"/>
                <a:ea typeface="Inter" pitchFamily="34" charset="-122"/>
                <a:cs typeface="Inter" pitchFamily="34" charset="-120"/>
              </a:rPr>
              <a:t>Garbanzo</a:t>
            </a:r>
            <a:endParaRPr lang="en-US" sz="1600" dirty="0"/>
          </a:p>
        </p:txBody>
      </p:sp>
      <p:sp>
        <p:nvSpPr>
          <p:cNvPr id="52" name="Text 50"/>
          <p:cNvSpPr/>
          <p:nvPr/>
        </p:nvSpPr>
        <p:spPr>
          <a:xfrm>
            <a:off x="2489200" y="3983673"/>
            <a:ext cx="1244600" cy="355600"/>
          </a:xfrm>
          <a:prstGeom prst="roundRect">
            <a:avLst>
              <a:gd name="adj" fmla="val 14286"/>
            </a:avLst>
          </a:prstGeom>
          <a:solidFill>
            <a:srgbClr val="CCD9B2"/>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40,1</a:t>
            </a:r>
            <a:endParaRPr lang="en-US" sz="1600" dirty="0"/>
          </a:p>
        </p:txBody>
      </p:sp>
      <p:sp>
        <p:nvSpPr>
          <p:cNvPr id="53" name="Text 51"/>
          <p:cNvSpPr/>
          <p:nvPr/>
        </p:nvSpPr>
        <p:spPr>
          <a:xfrm>
            <a:off x="3759200" y="3983673"/>
            <a:ext cx="1244600" cy="355600"/>
          </a:xfrm>
          <a:prstGeom prst="roundRect">
            <a:avLst>
              <a:gd name="adj" fmla="val 14286"/>
            </a:avLst>
          </a:prstGeom>
          <a:solidFill>
            <a:srgbClr val="A7C687"/>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67,8</a:t>
            </a:r>
            <a:endParaRPr lang="en-US" sz="1600" dirty="0"/>
          </a:p>
        </p:txBody>
      </p:sp>
      <p:sp>
        <p:nvSpPr>
          <p:cNvPr id="54" name="Text 52"/>
          <p:cNvSpPr/>
          <p:nvPr/>
        </p:nvSpPr>
        <p:spPr>
          <a:xfrm>
            <a:off x="5029200" y="3983673"/>
            <a:ext cx="1244600" cy="355600"/>
          </a:xfrm>
          <a:prstGeom prst="roundRect">
            <a:avLst>
              <a:gd name="adj" fmla="val 14286"/>
            </a:avLst>
          </a:prstGeom>
          <a:solidFill>
            <a:srgbClr val="B2CC94"/>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79,9</a:t>
            </a:r>
            <a:endParaRPr lang="en-US" sz="1600" dirty="0"/>
          </a:p>
        </p:txBody>
      </p:sp>
      <p:sp>
        <p:nvSpPr>
          <p:cNvPr id="55" name="Text 53"/>
          <p:cNvSpPr/>
          <p:nvPr/>
        </p:nvSpPr>
        <p:spPr>
          <a:xfrm>
            <a:off x="6299200" y="3983673"/>
            <a:ext cx="1244600" cy="355600"/>
          </a:xfrm>
          <a:prstGeom prst="roundRect">
            <a:avLst>
              <a:gd name="adj" fmla="val 14286"/>
            </a:avLst>
          </a:prstGeom>
          <a:solidFill>
            <a:srgbClr val="F0ECDC"/>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18,9</a:t>
            </a:r>
            <a:endParaRPr lang="en-US" sz="1600" dirty="0"/>
          </a:p>
        </p:txBody>
      </p:sp>
      <p:sp>
        <p:nvSpPr>
          <p:cNvPr id="56" name="Text 54"/>
          <p:cNvSpPr/>
          <p:nvPr/>
        </p:nvSpPr>
        <p:spPr>
          <a:xfrm>
            <a:off x="7569200" y="3983673"/>
            <a:ext cx="1244600" cy="355600"/>
          </a:xfrm>
          <a:prstGeom prst="roundRect">
            <a:avLst>
              <a:gd name="adj" fmla="val 14286"/>
            </a:avLst>
          </a:prstGeom>
          <a:solidFill>
            <a:srgbClr val="F0ECDC"/>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16,9</a:t>
            </a:r>
            <a:endParaRPr lang="en-US" sz="1600" dirty="0"/>
          </a:p>
        </p:txBody>
      </p:sp>
      <p:sp>
        <p:nvSpPr>
          <p:cNvPr id="57" name="Text 55"/>
          <p:cNvSpPr/>
          <p:nvPr/>
        </p:nvSpPr>
        <p:spPr>
          <a:xfrm>
            <a:off x="8839200" y="3983673"/>
            <a:ext cx="1244600" cy="355600"/>
          </a:xfrm>
          <a:prstGeom prst="roundRect">
            <a:avLst>
              <a:gd name="adj" fmla="val 14286"/>
            </a:avLst>
          </a:prstGeom>
          <a:solidFill>
            <a:srgbClr val="1E3A2C"/>
          </a:solidFill>
          <a:ln/>
        </p:spPr>
        <p:txBody>
          <a:bodyPr wrap="square" lIns="0" tIns="0" rIns="0" bIns="0" rtlCol="0" anchor="ctr">
            <a:normAutofit/>
          </a:bodyPr>
          <a:lstStyle/>
          <a:p>
            <a:pPr marL="0" indent="0" algn="ctr">
              <a:lnSpc>
                <a:spcPts val="2240"/>
              </a:lnSpc>
              <a:buNone/>
            </a:pPr>
            <a:r>
              <a:rPr lang="en-US" sz="1600" b="1" dirty="0">
                <a:solidFill>
                  <a:srgbClr val="F5F2EA"/>
                </a:solidFill>
                <a:latin typeface="Inter" pitchFamily="34" charset="0"/>
                <a:ea typeface="Inter" pitchFamily="34" charset="-122"/>
                <a:cs typeface="Inter" pitchFamily="34" charset="-120"/>
              </a:rPr>
              <a:t>7,3</a:t>
            </a:r>
            <a:endParaRPr lang="en-US" sz="1600" dirty="0"/>
          </a:p>
        </p:txBody>
      </p:sp>
      <p:sp>
        <p:nvSpPr>
          <p:cNvPr id="58" name="Text 56"/>
          <p:cNvSpPr/>
          <p:nvPr/>
        </p:nvSpPr>
        <p:spPr>
          <a:xfrm>
            <a:off x="10109200" y="3983673"/>
            <a:ext cx="1244600" cy="355600"/>
          </a:xfrm>
          <a:prstGeom prst="roundRect">
            <a:avLst>
              <a:gd name="adj" fmla="val 14286"/>
            </a:avLst>
          </a:prstGeom>
          <a:solidFill>
            <a:srgbClr val="C4D5A9"/>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80,1</a:t>
            </a:r>
            <a:endParaRPr lang="en-US" sz="1600" dirty="0"/>
          </a:p>
        </p:txBody>
      </p:sp>
      <p:sp>
        <p:nvSpPr>
          <p:cNvPr id="59" name="Text 57"/>
          <p:cNvSpPr/>
          <p:nvPr/>
        </p:nvSpPr>
        <p:spPr>
          <a:xfrm>
            <a:off x="812800" y="4400234"/>
            <a:ext cx="1701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C2620"/>
                </a:solidFill>
                <a:latin typeface="Inter" pitchFamily="34" charset="0"/>
                <a:ea typeface="Inter" pitchFamily="34" charset="-122"/>
                <a:cs typeface="Inter" pitchFamily="34" charset="-120"/>
              </a:rPr>
              <a:t>Judía roja</a:t>
            </a:r>
            <a:endParaRPr lang="en-US" sz="1600" dirty="0"/>
          </a:p>
        </p:txBody>
      </p:sp>
      <p:sp>
        <p:nvSpPr>
          <p:cNvPr id="60" name="Text 58"/>
          <p:cNvSpPr/>
          <p:nvPr/>
        </p:nvSpPr>
        <p:spPr>
          <a:xfrm>
            <a:off x="2489200" y="4364673"/>
            <a:ext cx="1244600" cy="355600"/>
          </a:xfrm>
          <a:prstGeom prst="roundRect">
            <a:avLst>
              <a:gd name="adj" fmla="val 14286"/>
            </a:avLst>
          </a:prstGeom>
          <a:solidFill>
            <a:srgbClr val="EDEAD8"/>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20,8</a:t>
            </a:r>
            <a:endParaRPr lang="en-US" sz="1600" dirty="0"/>
          </a:p>
        </p:txBody>
      </p:sp>
      <p:sp>
        <p:nvSpPr>
          <p:cNvPr id="61" name="Text 59"/>
          <p:cNvSpPr/>
          <p:nvPr/>
        </p:nvSpPr>
        <p:spPr>
          <a:xfrm>
            <a:off x="3759200" y="4364673"/>
            <a:ext cx="1244600" cy="355600"/>
          </a:xfrm>
          <a:prstGeom prst="roundRect">
            <a:avLst>
              <a:gd name="adj" fmla="val 14286"/>
            </a:avLst>
          </a:prstGeom>
          <a:solidFill>
            <a:srgbClr val="A7C687"/>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67,5</a:t>
            </a:r>
            <a:endParaRPr lang="en-US" sz="1600" dirty="0"/>
          </a:p>
        </p:txBody>
      </p:sp>
      <p:sp>
        <p:nvSpPr>
          <p:cNvPr id="62" name="Text 60"/>
          <p:cNvSpPr/>
          <p:nvPr/>
        </p:nvSpPr>
        <p:spPr>
          <a:xfrm>
            <a:off x="5029200" y="4364673"/>
            <a:ext cx="1244600" cy="355600"/>
          </a:xfrm>
          <a:prstGeom prst="roundRect">
            <a:avLst>
              <a:gd name="adj" fmla="val 14286"/>
            </a:avLst>
          </a:prstGeom>
          <a:solidFill>
            <a:srgbClr val="E7E7D2"/>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20,0</a:t>
            </a:r>
            <a:endParaRPr lang="en-US" sz="1600" dirty="0"/>
          </a:p>
        </p:txBody>
      </p:sp>
      <p:sp>
        <p:nvSpPr>
          <p:cNvPr id="63" name="Text 61"/>
          <p:cNvSpPr/>
          <p:nvPr/>
        </p:nvSpPr>
        <p:spPr>
          <a:xfrm>
            <a:off x="6299200" y="4364673"/>
            <a:ext cx="1244600" cy="355600"/>
          </a:xfrm>
          <a:prstGeom prst="roundRect">
            <a:avLst>
              <a:gd name="adj" fmla="val 14286"/>
            </a:avLst>
          </a:prstGeom>
          <a:solidFill>
            <a:srgbClr val="E2E5CC"/>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20,1</a:t>
            </a:r>
            <a:endParaRPr lang="en-US" sz="1600" dirty="0"/>
          </a:p>
        </p:txBody>
      </p:sp>
      <p:sp>
        <p:nvSpPr>
          <p:cNvPr id="64" name="Text 62"/>
          <p:cNvSpPr/>
          <p:nvPr/>
        </p:nvSpPr>
        <p:spPr>
          <a:xfrm>
            <a:off x="7569200" y="4364673"/>
            <a:ext cx="1244600" cy="355600"/>
          </a:xfrm>
          <a:prstGeom prst="roundRect">
            <a:avLst>
              <a:gd name="adj" fmla="val 14286"/>
            </a:avLst>
          </a:prstGeom>
          <a:solidFill>
            <a:srgbClr val="E6E7D0"/>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21,6</a:t>
            </a:r>
            <a:endParaRPr lang="en-US" sz="1600" dirty="0"/>
          </a:p>
        </p:txBody>
      </p:sp>
      <p:sp>
        <p:nvSpPr>
          <p:cNvPr id="65" name="Text 63"/>
          <p:cNvSpPr/>
          <p:nvPr/>
        </p:nvSpPr>
        <p:spPr>
          <a:xfrm>
            <a:off x="8839200" y="4364673"/>
            <a:ext cx="1244600" cy="355600"/>
          </a:xfrm>
          <a:prstGeom prst="roundRect">
            <a:avLst>
              <a:gd name="adj" fmla="val 14286"/>
            </a:avLst>
          </a:prstGeom>
          <a:solidFill>
            <a:srgbClr val="F0ECDC"/>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5,7</a:t>
            </a:r>
            <a:endParaRPr lang="en-US" sz="1600" dirty="0"/>
          </a:p>
        </p:txBody>
      </p:sp>
      <p:sp>
        <p:nvSpPr>
          <p:cNvPr id="66" name="Text 64"/>
          <p:cNvSpPr/>
          <p:nvPr/>
        </p:nvSpPr>
        <p:spPr>
          <a:xfrm>
            <a:off x="10109200" y="4364673"/>
            <a:ext cx="1244600" cy="355600"/>
          </a:xfrm>
          <a:prstGeom prst="roundRect">
            <a:avLst>
              <a:gd name="adj" fmla="val 14286"/>
            </a:avLst>
          </a:prstGeom>
          <a:solidFill>
            <a:srgbClr val="B0CA91"/>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105,9</a:t>
            </a:r>
            <a:endParaRPr lang="en-US" sz="1600" dirty="0"/>
          </a:p>
        </p:txBody>
      </p:sp>
      <p:sp>
        <p:nvSpPr>
          <p:cNvPr id="67" name="Text 65"/>
          <p:cNvSpPr/>
          <p:nvPr/>
        </p:nvSpPr>
        <p:spPr>
          <a:xfrm>
            <a:off x="812800" y="4781234"/>
            <a:ext cx="1701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C2620"/>
                </a:solidFill>
                <a:latin typeface="Inter" pitchFamily="34" charset="0"/>
                <a:ea typeface="Inter" pitchFamily="34" charset="-122"/>
                <a:cs typeface="Inter" pitchFamily="34" charset="-120"/>
              </a:rPr>
              <a:t>Melón</a:t>
            </a:r>
            <a:endParaRPr lang="en-US" sz="1600" dirty="0"/>
          </a:p>
        </p:txBody>
      </p:sp>
      <p:sp>
        <p:nvSpPr>
          <p:cNvPr id="68" name="Text 66"/>
          <p:cNvSpPr/>
          <p:nvPr/>
        </p:nvSpPr>
        <p:spPr>
          <a:xfrm>
            <a:off x="2489200" y="4745673"/>
            <a:ext cx="1244600" cy="355600"/>
          </a:xfrm>
          <a:prstGeom prst="roundRect">
            <a:avLst>
              <a:gd name="adj" fmla="val 14286"/>
            </a:avLst>
          </a:prstGeom>
          <a:solidFill>
            <a:srgbClr val="4B6948"/>
          </a:solidFill>
          <a:ln/>
        </p:spPr>
        <p:txBody>
          <a:bodyPr wrap="square" lIns="0" tIns="0" rIns="0" bIns="0" rtlCol="0" anchor="ctr">
            <a:normAutofit/>
          </a:bodyPr>
          <a:lstStyle/>
          <a:p>
            <a:pPr marL="0" indent="0" algn="ctr">
              <a:lnSpc>
                <a:spcPts val="2240"/>
              </a:lnSpc>
              <a:buNone/>
            </a:pPr>
            <a:r>
              <a:rPr lang="en-US" sz="1600" b="1" dirty="0">
                <a:solidFill>
                  <a:srgbClr val="F5F2EA"/>
                </a:solidFill>
                <a:latin typeface="Inter" pitchFamily="34" charset="0"/>
                <a:ea typeface="Inter" pitchFamily="34" charset="-122"/>
                <a:cs typeface="Inter" pitchFamily="34" charset="-120"/>
              </a:rPr>
              <a:t>100,3</a:t>
            </a:r>
            <a:endParaRPr lang="en-US" sz="1600" dirty="0"/>
          </a:p>
        </p:txBody>
      </p:sp>
      <p:sp>
        <p:nvSpPr>
          <p:cNvPr id="69" name="Text 67"/>
          <p:cNvSpPr/>
          <p:nvPr/>
        </p:nvSpPr>
        <p:spPr>
          <a:xfrm>
            <a:off x="3759200" y="4745673"/>
            <a:ext cx="1244600" cy="355600"/>
          </a:xfrm>
          <a:prstGeom prst="roundRect">
            <a:avLst>
              <a:gd name="adj" fmla="val 14286"/>
            </a:avLst>
          </a:prstGeom>
          <a:solidFill>
            <a:srgbClr val="EEEBDA"/>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17,7</a:t>
            </a:r>
            <a:endParaRPr lang="en-US" sz="1600" dirty="0"/>
          </a:p>
        </p:txBody>
      </p:sp>
      <p:sp>
        <p:nvSpPr>
          <p:cNvPr id="70" name="Text 68"/>
          <p:cNvSpPr/>
          <p:nvPr/>
        </p:nvSpPr>
        <p:spPr>
          <a:xfrm>
            <a:off x="5029200" y="4745673"/>
            <a:ext cx="1244600" cy="355600"/>
          </a:xfrm>
          <a:prstGeom prst="roundRect">
            <a:avLst>
              <a:gd name="adj" fmla="val 14286"/>
            </a:avLst>
          </a:prstGeom>
          <a:solidFill>
            <a:srgbClr val="CDD9B3"/>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50,1</a:t>
            </a:r>
            <a:endParaRPr lang="en-US" sz="1600" dirty="0"/>
          </a:p>
        </p:txBody>
      </p:sp>
      <p:sp>
        <p:nvSpPr>
          <p:cNvPr id="71" name="Text 69"/>
          <p:cNvSpPr/>
          <p:nvPr/>
        </p:nvSpPr>
        <p:spPr>
          <a:xfrm>
            <a:off x="6299200" y="4745673"/>
            <a:ext cx="1244600" cy="355600"/>
          </a:xfrm>
          <a:prstGeom prst="roundRect">
            <a:avLst>
              <a:gd name="adj" fmla="val 14286"/>
            </a:avLst>
          </a:prstGeom>
          <a:solidFill>
            <a:srgbClr val="739561"/>
          </a:solidFill>
          <a:ln/>
        </p:spPr>
        <p:txBody>
          <a:bodyPr wrap="square" lIns="0" tIns="0" rIns="0" bIns="0" rtlCol="0" anchor="ctr">
            <a:normAutofit/>
          </a:bodyPr>
          <a:lstStyle/>
          <a:p>
            <a:pPr marL="0" indent="0" algn="ctr">
              <a:lnSpc>
                <a:spcPts val="2240"/>
              </a:lnSpc>
              <a:buNone/>
            </a:pPr>
            <a:r>
              <a:rPr lang="en-US" sz="1600" b="1" dirty="0">
                <a:solidFill>
                  <a:srgbClr val="F5F2EA"/>
                </a:solidFill>
                <a:latin typeface="Inter" pitchFamily="34" charset="0"/>
                <a:ea typeface="Inter" pitchFamily="34" charset="-122"/>
                <a:cs typeface="Inter" pitchFamily="34" charset="-120"/>
              </a:rPr>
              <a:t>28,7</a:t>
            </a:r>
            <a:endParaRPr lang="en-US" sz="1600" dirty="0"/>
          </a:p>
        </p:txBody>
      </p:sp>
      <p:sp>
        <p:nvSpPr>
          <p:cNvPr id="72" name="Text 70"/>
          <p:cNvSpPr/>
          <p:nvPr/>
        </p:nvSpPr>
        <p:spPr>
          <a:xfrm>
            <a:off x="7569200" y="4745673"/>
            <a:ext cx="1244600" cy="355600"/>
          </a:xfrm>
          <a:prstGeom prst="roundRect">
            <a:avLst>
              <a:gd name="adj" fmla="val 14286"/>
            </a:avLst>
          </a:prstGeom>
          <a:solidFill>
            <a:srgbClr val="264331"/>
          </a:solidFill>
          <a:ln/>
        </p:spPr>
        <p:txBody>
          <a:bodyPr wrap="square" lIns="0" tIns="0" rIns="0" bIns="0" rtlCol="0" anchor="ctr">
            <a:normAutofit/>
          </a:bodyPr>
          <a:lstStyle/>
          <a:p>
            <a:pPr marL="0" indent="0" algn="ctr">
              <a:lnSpc>
                <a:spcPts val="2240"/>
              </a:lnSpc>
              <a:buNone/>
            </a:pPr>
            <a:r>
              <a:rPr lang="en-US" sz="1600" b="1" dirty="0">
                <a:solidFill>
                  <a:srgbClr val="F5F2EA"/>
                </a:solidFill>
                <a:latin typeface="Inter" pitchFamily="34" charset="0"/>
                <a:ea typeface="Inter" pitchFamily="34" charset="-122"/>
                <a:cs typeface="Inter" pitchFamily="34" charset="-120"/>
              </a:rPr>
              <a:t>92,3</a:t>
            </a:r>
            <a:endParaRPr lang="en-US" sz="1600" dirty="0"/>
          </a:p>
        </p:txBody>
      </p:sp>
      <p:sp>
        <p:nvSpPr>
          <p:cNvPr id="73" name="Text 71"/>
          <p:cNvSpPr/>
          <p:nvPr/>
        </p:nvSpPr>
        <p:spPr>
          <a:xfrm>
            <a:off x="8839200" y="4745673"/>
            <a:ext cx="1244600" cy="355600"/>
          </a:xfrm>
          <a:prstGeom prst="roundRect">
            <a:avLst>
              <a:gd name="adj" fmla="val 14286"/>
            </a:avLst>
          </a:prstGeom>
          <a:solidFill>
            <a:srgbClr val="A6C586"/>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6,4</a:t>
            </a:r>
            <a:endParaRPr lang="en-US" sz="1600" dirty="0"/>
          </a:p>
        </p:txBody>
      </p:sp>
      <p:sp>
        <p:nvSpPr>
          <p:cNvPr id="74" name="Text 72"/>
          <p:cNvSpPr/>
          <p:nvPr/>
        </p:nvSpPr>
        <p:spPr>
          <a:xfrm>
            <a:off x="10109200" y="4745673"/>
            <a:ext cx="1244600" cy="355600"/>
          </a:xfrm>
          <a:prstGeom prst="roundRect">
            <a:avLst>
              <a:gd name="adj" fmla="val 14286"/>
            </a:avLst>
          </a:prstGeom>
          <a:solidFill>
            <a:srgbClr val="F0ECDC"/>
          </a:solidFill>
          <a:ln/>
        </p:spPr>
        <p:txBody>
          <a:bodyPr wrap="square" lIns="0" tIns="0" rIns="0" bIns="0" rtlCol="0" anchor="ctr">
            <a:normAutofit/>
          </a:bodyPr>
          <a:lstStyle/>
          <a:p>
            <a:pPr marL="0" indent="0" algn="ctr">
              <a:lnSpc>
                <a:spcPts val="2240"/>
              </a:lnSpc>
              <a:buNone/>
            </a:pPr>
            <a:r>
              <a:rPr lang="en-US" sz="1600" b="1" dirty="0">
                <a:solidFill>
                  <a:srgbClr val="1C2620"/>
                </a:solidFill>
                <a:latin typeface="Inter" pitchFamily="34" charset="0"/>
                <a:ea typeface="Inter" pitchFamily="34" charset="-122"/>
                <a:cs typeface="Inter" pitchFamily="34" charset="-120"/>
              </a:rPr>
              <a:t>24,7</a:t>
            </a:r>
            <a:endParaRPr lang="en-US" sz="1600" dirty="0"/>
          </a:p>
        </p:txBody>
      </p:sp>
      <p:sp>
        <p:nvSpPr>
          <p:cNvPr id="75" name="Text 73"/>
          <p:cNvSpPr/>
          <p:nvPr/>
        </p:nvSpPr>
        <p:spPr>
          <a:xfrm>
            <a:off x="812800" y="5228273"/>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B61"/>
                </a:solidFill>
                <a:latin typeface="Inter" pitchFamily="34" charset="0"/>
                <a:ea typeface="Inter" pitchFamily="34" charset="-122"/>
                <a:cs typeface="Inter" pitchFamily="34" charset="-120"/>
              </a:rPr>
              <a:t>Media de cada variable por cultivo (8 de 22). Verde oscuro = valor más alto de esa variable entre los 22 cultivos.</a:t>
            </a:r>
            <a:endParaRPr lang="en-US" sz="1200" dirty="0"/>
          </a:p>
        </p:txBody>
      </p:sp>
      <p:sp>
        <p:nvSpPr>
          <p:cNvPr id="76" name="Text 74"/>
          <p:cNvSpPr/>
          <p:nvPr/>
        </p:nvSpPr>
        <p:spPr>
          <a:xfrm>
            <a:off x="812800" y="6230621"/>
            <a:ext cx="8875435"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E7B71"/>
                </a:solidFill>
                <a:latin typeface="Inter" pitchFamily="34" charset="0"/>
                <a:ea typeface="Inter" pitchFamily="34" charset="-122"/>
                <a:cs typeface="Inter" pitchFamily="34" charset="-120"/>
              </a:rPr>
              <a:t>NEGOCIO   ·   </a:t>
            </a:r>
            <a:r>
              <a:rPr lang="en-US" sz="1200" b="1" kern="0" spc="100" dirty="0">
                <a:solidFill>
                  <a:srgbClr val="1E3A2C"/>
                </a:solidFill>
                <a:latin typeface="Inter" pitchFamily="34" charset="0"/>
                <a:ea typeface="Inter" pitchFamily="34" charset="-122"/>
                <a:cs typeface="Inter" pitchFamily="34" charset="-120"/>
              </a:rPr>
              <a:t>DATOS</a:t>
            </a:r>
            <a:r>
              <a:rPr lang="en-US" sz="1200" kern="0" spc="100" dirty="0">
                <a:solidFill>
                  <a:srgbClr val="6E7B71"/>
                </a:solidFill>
                <a:latin typeface="Inter" pitchFamily="34" charset="0"/>
                <a:ea typeface="Inter" pitchFamily="34" charset="-122"/>
                <a:cs typeface="Inter" pitchFamily="34" charset="-120"/>
              </a:rPr>
              <a:t>   ·   PREPARACIÓN   ·   MODELADO   ·   EVALUACIÓN   ·   DESPLIEGUE</a:t>
            </a:r>
            <a:endParaRPr lang="en-US" sz="1200" dirty="0"/>
          </a:p>
        </p:txBody>
      </p:sp>
      <p:sp>
        <p:nvSpPr>
          <p:cNvPr id="77" name="Text 75"/>
          <p:cNvSpPr/>
          <p:nvPr/>
        </p:nvSpPr>
        <p:spPr>
          <a:xfrm>
            <a:off x="10807605" y="6230621"/>
            <a:ext cx="571595"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E7B71"/>
                </a:solidFill>
                <a:latin typeface="Inter" pitchFamily="34" charset="0"/>
                <a:ea typeface="Inter" pitchFamily="34" charset="-122"/>
                <a:cs typeface="Inter" pitchFamily="34" charset="-120"/>
              </a:rPr>
              <a:t>07 / 18</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9A5B0B"/>
                </a:solidFill>
                <a:latin typeface="Inter" pitchFamily="34" charset="0"/>
                <a:ea typeface="Inter" pitchFamily="34" charset="-122"/>
                <a:cs typeface="Inter" pitchFamily="34" charset="-120"/>
              </a:rPr>
              <a:t>PREPARACIÓN Y MODELADO</a:t>
            </a:r>
            <a:endParaRPr lang="en-US" sz="1200" dirty="0"/>
          </a:p>
        </p:txBody>
      </p:sp>
      <p:sp>
        <p:nvSpPr>
          <p:cNvPr id="3" name="Text 1"/>
          <p:cNvSpPr>
            <a:spLocks noGrp="1"/>
          </p:cNvSpPr>
          <p:nvPr>
            <p:ph type="title"/>
          </p:nvPr>
        </p:nvSpPr>
        <p:spPr>
          <a:xfrm>
            <a:off x="812800" y="1153164"/>
            <a:ext cx="10883392" cy="519113"/>
          </a:xfrm>
          <a:prstGeom prst="rect">
            <a:avLst/>
          </a:prstGeom>
          <a:noFill/>
          <a:ln/>
        </p:spPr>
        <p:txBody>
          <a:bodyPr wrap="square" lIns="0" tIns="0" rIns="0" bIns="0" rtlCol="0" anchor="t">
            <a:normAutofit/>
          </a:bodyPr>
          <a:lstStyle/>
          <a:p>
            <a:pPr marL="0" indent="0" algn="l">
              <a:lnSpc>
                <a:spcPts val="3888"/>
              </a:lnSpc>
              <a:buNone/>
            </a:pPr>
            <a:r>
              <a:rPr lang="en-US" sz="3600" b="1" i="0" dirty="0">
                <a:solidFill>
                  <a:srgbClr val="1C2620"/>
                </a:solidFill>
                <a:latin typeface="Fraunces" pitchFamily="18" charset="0"/>
                <a:ea typeface="Fraunces" pitchFamily="18" charset="-122"/>
                <a:cs typeface="Fraunces" pitchFamily="18" charset="-120"/>
              </a:rPr>
              <a:t>Del dataset al modelo en cuatro pasos</a:t>
            </a:r>
            <a:endParaRPr lang="en-US" sz="3600" dirty="0"/>
          </a:p>
        </p:txBody>
      </p:sp>
      <p:sp>
        <p:nvSpPr>
          <p:cNvPr id="4" name="Shape 2"/>
          <p:cNvSpPr/>
          <p:nvPr/>
        </p:nvSpPr>
        <p:spPr>
          <a:xfrm>
            <a:off x="819150" y="2419350"/>
            <a:ext cx="2209800" cy="2039620"/>
          </a:xfrm>
          <a:prstGeom prst="roundRect">
            <a:avLst>
              <a:gd name="adj" fmla="val 7161"/>
            </a:avLst>
          </a:prstGeom>
          <a:solidFill>
            <a:srgbClr val="FFFDF7"/>
          </a:solidFill>
          <a:ln w="12700">
            <a:solidFill>
              <a:srgbClr val="E9E5D8"/>
            </a:solidFill>
            <a:prstDash val="solid"/>
          </a:ln>
        </p:spPr>
        <p:txBody>
          <a:bodyPr/>
          <a:lstStyle/>
          <a:p>
            <a:endParaRPr lang="es-CO"/>
          </a:p>
        </p:txBody>
      </p:sp>
      <p:sp>
        <p:nvSpPr>
          <p:cNvPr id="5" name="Text 3"/>
          <p:cNvSpPr/>
          <p:nvPr/>
        </p:nvSpPr>
        <p:spPr>
          <a:xfrm>
            <a:off x="1026160" y="2677164"/>
            <a:ext cx="1849654"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9A5B0B"/>
                </a:solidFill>
                <a:latin typeface="Inter" pitchFamily="34" charset="0"/>
                <a:ea typeface="Inter" pitchFamily="34" charset="-122"/>
                <a:cs typeface="Inter" pitchFamily="34" charset="-120"/>
              </a:rPr>
              <a:t>PASO 1</a:t>
            </a:r>
            <a:endParaRPr lang="en-US" sz="1200" dirty="0"/>
          </a:p>
        </p:txBody>
      </p:sp>
      <p:sp>
        <p:nvSpPr>
          <p:cNvPr id="6" name="Text 4"/>
          <p:cNvSpPr/>
          <p:nvPr/>
        </p:nvSpPr>
        <p:spPr>
          <a:xfrm>
            <a:off x="1026160" y="2966721"/>
            <a:ext cx="1849654"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C2620"/>
                </a:solidFill>
                <a:latin typeface="Fraunces" pitchFamily="18" charset="0"/>
                <a:ea typeface="Fraunces" pitchFamily="18" charset="-122"/>
                <a:cs typeface="Fraunces" pitchFamily="18" charset="-120"/>
              </a:rPr>
              <a:t>Separar</a:t>
            </a:r>
            <a:endParaRPr lang="en-US" sz="2200" dirty="0"/>
          </a:p>
        </p:txBody>
      </p:sp>
      <p:sp>
        <p:nvSpPr>
          <p:cNvPr id="7" name="Text 5"/>
          <p:cNvSpPr/>
          <p:nvPr/>
        </p:nvSpPr>
        <p:spPr>
          <a:xfrm>
            <a:off x="1026160" y="3378200"/>
            <a:ext cx="1849654" cy="84836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5E6B61"/>
                </a:solidFill>
                <a:latin typeface="Inter" pitchFamily="34" charset="0"/>
                <a:ea typeface="Inter" pitchFamily="34" charset="-122"/>
                <a:cs typeface="Inter" pitchFamily="34" charset="-120"/>
              </a:rPr>
              <a:t>7 variables de la parcela → el cultivo a predecir</a:t>
            </a:r>
            <a:endParaRPr lang="en-US" sz="1600" dirty="0"/>
          </a:p>
        </p:txBody>
      </p:sp>
      <p:pic>
        <p:nvPicPr>
          <p:cNvPr id="8" name="Image 0" descr="connector"/>
          <p:cNvPicPr>
            <a:picLocks noChangeAspect="1"/>
          </p:cNvPicPr>
          <p:nvPr/>
        </p:nvPicPr>
        <p:blipFill>
          <a:blip r:embed="rId3"/>
          <a:srcRect/>
          <a:stretch/>
        </p:blipFill>
        <p:spPr>
          <a:xfrm>
            <a:off x="3048000" y="3492500"/>
            <a:ext cx="533400" cy="127000"/>
          </a:xfrm>
          <a:prstGeom prst="rect">
            <a:avLst/>
          </a:prstGeom>
        </p:spPr>
      </p:pic>
      <p:sp>
        <p:nvSpPr>
          <p:cNvPr id="9" name="Shape 6"/>
          <p:cNvSpPr/>
          <p:nvPr/>
        </p:nvSpPr>
        <p:spPr>
          <a:xfrm>
            <a:off x="3600450" y="2419350"/>
            <a:ext cx="2209800" cy="2313940"/>
          </a:xfrm>
          <a:prstGeom prst="roundRect">
            <a:avLst>
              <a:gd name="adj" fmla="val 6609"/>
            </a:avLst>
          </a:prstGeom>
          <a:solidFill>
            <a:srgbClr val="FFFDF7"/>
          </a:solidFill>
          <a:ln w="12700">
            <a:solidFill>
              <a:srgbClr val="E9E5D8"/>
            </a:solidFill>
            <a:prstDash val="solid"/>
          </a:ln>
        </p:spPr>
        <p:txBody>
          <a:bodyPr/>
          <a:lstStyle/>
          <a:p>
            <a:endParaRPr lang="es-CO"/>
          </a:p>
        </p:txBody>
      </p:sp>
      <p:sp>
        <p:nvSpPr>
          <p:cNvPr id="10" name="Text 7"/>
          <p:cNvSpPr/>
          <p:nvPr/>
        </p:nvSpPr>
        <p:spPr>
          <a:xfrm>
            <a:off x="3807460" y="2677164"/>
            <a:ext cx="1849654"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9A5B0B"/>
                </a:solidFill>
                <a:latin typeface="Inter" pitchFamily="34" charset="0"/>
                <a:ea typeface="Inter" pitchFamily="34" charset="-122"/>
                <a:cs typeface="Inter" pitchFamily="34" charset="-120"/>
              </a:rPr>
              <a:t>PASO 2</a:t>
            </a:r>
            <a:endParaRPr lang="en-US" sz="1200" dirty="0"/>
          </a:p>
        </p:txBody>
      </p:sp>
      <p:sp>
        <p:nvSpPr>
          <p:cNvPr id="11" name="Text 8"/>
          <p:cNvSpPr/>
          <p:nvPr/>
        </p:nvSpPr>
        <p:spPr>
          <a:xfrm>
            <a:off x="3807460" y="2966721"/>
            <a:ext cx="1849654"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C2620"/>
                </a:solidFill>
                <a:latin typeface="Fraunces" pitchFamily="18" charset="0"/>
                <a:ea typeface="Fraunces" pitchFamily="18" charset="-122"/>
                <a:cs typeface="Fraunces" pitchFamily="18" charset="-120"/>
              </a:rPr>
              <a:t>Dividir</a:t>
            </a:r>
            <a:endParaRPr lang="en-US" sz="2200" dirty="0"/>
          </a:p>
        </p:txBody>
      </p:sp>
      <p:sp>
        <p:nvSpPr>
          <p:cNvPr id="12" name="Text 9"/>
          <p:cNvSpPr/>
          <p:nvPr/>
        </p:nvSpPr>
        <p:spPr>
          <a:xfrm>
            <a:off x="3807460" y="3378200"/>
            <a:ext cx="1849654" cy="11226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5E6B61"/>
                </a:solidFill>
                <a:latin typeface="Inter" pitchFamily="34" charset="0"/>
                <a:ea typeface="Inter" pitchFamily="34" charset="-122"/>
                <a:cs typeface="Inter" pitchFamily="34" charset="-120"/>
              </a:rPr>
              <a:t>1.760 parcelas para entrenar y 440 para el examen final</a:t>
            </a:r>
            <a:endParaRPr lang="en-US" sz="1600" dirty="0"/>
          </a:p>
        </p:txBody>
      </p:sp>
      <p:pic>
        <p:nvPicPr>
          <p:cNvPr id="13" name="Image 1" descr="connector"/>
          <p:cNvPicPr>
            <a:picLocks noChangeAspect="1"/>
          </p:cNvPicPr>
          <p:nvPr/>
        </p:nvPicPr>
        <p:blipFill>
          <a:blip r:embed="rId3"/>
          <a:srcRect/>
          <a:stretch/>
        </p:blipFill>
        <p:spPr>
          <a:xfrm>
            <a:off x="5829300" y="3492500"/>
            <a:ext cx="533400" cy="127000"/>
          </a:xfrm>
          <a:prstGeom prst="rect">
            <a:avLst/>
          </a:prstGeom>
        </p:spPr>
      </p:pic>
      <p:sp>
        <p:nvSpPr>
          <p:cNvPr id="14" name="Shape 10"/>
          <p:cNvSpPr/>
          <p:nvPr/>
        </p:nvSpPr>
        <p:spPr>
          <a:xfrm>
            <a:off x="6381750" y="2419350"/>
            <a:ext cx="2209800" cy="2039620"/>
          </a:xfrm>
          <a:prstGeom prst="roundRect">
            <a:avLst>
              <a:gd name="adj" fmla="val 7161"/>
            </a:avLst>
          </a:prstGeom>
          <a:solidFill>
            <a:srgbClr val="1E3A2C"/>
          </a:solidFill>
          <a:ln w="12700">
            <a:solidFill>
              <a:srgbClr val="E9E5D8"/>
            </a:solidFill>
            <a:prstDash val="solid"/>
          </a:ln>
        </p:spPr>
        <p:txBody>
          <a:bodyPr/>
          <a:lstStyle/>
          <a:p>
            <a:endParaRPr lang="es-CO"/>
          </a:p>
        </p:txBody>
      </p:sp>
      <p:sp>
        <p:nvSpPr>
          <p:cNvPr id="15" name="Text 11"/>
          <p:cNvSpPr/>
          <p:nvPr/>
        </p:nvSpPr>
        <p:spPr>
          <a:xfrm>
            <a:off x="6588760" y="2677164"/>
            <a:ext cx="1849654"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E3A33B"/>
                </a:solidFill>
                <a:latin typeface="Inter" pitchFamily="34" charset="0"/>
                <a:ea typeface="Inter" pitchFamily="34" charset="-122"/>
                <a:cs typeface="Inter" pitchFamily="34" charset="-120"/>
              </a:rPr>
              <a:t>PASO 3</a:t>
            </a:r>
            <a:endParaRPr lang="en-US" sz="1200" dirty="0"/>
          </a:p>
        </p:txBody>
      </p:sp>
      <p:sp>
        <p:nvSpPr>
          <p:cNvPr id="16" name="Text 12"/>
          <p:cNvSpPr/>
          <p:nvPr/>
        </p:nvSpPr>
        <p:spPr>
          <a:xfrm>
            <a:off x="6588760" y="2966721"/>
            <a:ext cx="1849654"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5F2EA"/>
                </a:solidFill>
                <a:latin typeface="Fraunces" pitchFamily="18" charset="0"/>
                <a:ea typeface="Fraunces" pitchFamily="18" charset="-122"/>
                <a:cs typeface="Fraunces" pitchFamily="18" charset="-120"/>
              </a:rPr>
              <a:t>Entrenar</a:t>
            </a:r>
            <a:endParaRPr lang="en-US" sz="2200" dirty="0"/>
          </a:p>
        </p:txBody>
      </p:sp>
      <p:sp>
        <p:nvSpPr>
          <p:cNvPr id="17" name="Text 13"/>
          <p:cNvSpPr/>
          <p:nvPr/>
        </p:nvSpPr>
        <p:spPr>
          <a:xfrm>
            <a:off x="6588760" y="3378200"/>
            <a:ext cx="1849654" cy="84836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B9C7BB"/>
                </a:solidFill>
                <a:latin typeface="Inter" pitchFamily="34" charset="0"/>
                <a:ea typeface="Inter" pitchFamily="34" charset="-122"/>
                <a:cs typeface="Inter" pitchFamily="34" charset="-120"/>
              </a:rPr>
              <a:t>Baseline, Árbol de Decisión y Random Forest</a:t>
            </a:r>
            <a:endParaRPr lang="en-US" sz="1600" dirty="0"/>
          </a:p>
        </p:txBody>
      </p:sp>
      <p:pic>
        <p:nvPicPr>
          <p:cNvPr id="18" name="Image 2" descr="connector"/>
          <p:cNvPicPr>
            <a:picLocks noChangeAspect="1"/>
          </p:cNvPicPr>
          <p:nvPr/>
        </p:nvPicPr>
        <p:blipFill>
          <a:blip r:embed="rId3"/>
          <a:srcRect/>
          <a:stretch/>
        </p:blipFill>
        <p:spPr>
          <a:xfrm>
            <a:off x="8610600" y="3492500"/>
            <a:ext cx="533400" cy="127000"/>
          </a:xfrm>
          <a:prstGeom prst="rect">
            <a:avLst/>
          </a:prstGeom>
        </p:spPr>
      </p:pic>
      <p:sp>
        <p:nvSpPr>
          <p:cNvPr id="19" name="Shape 14"/>
          <p:cNvSpPr/>
          <p:nvPr/>
        </p:nvSpPr>
        <p:spPr>
          <a:xfrm>
            <a:off x="9163050" y="2419350"/>
            <a:ext cx="2209800" cy="2039620"/>
          </a:xfrm>
          <a:prstGeom prst="roundRect">
            <a:avLst>
              <a:gd name="adj" fmla="val 7161"/>
            </a:avLst>
          </a:prstGeom>
          <a:solidFill>
            <a:srgbClr val="FFFDF7"/>
          </a:solidFill>
          <a:ln w="12700">
            <a:solidFill>
              <a:srgbClr val="E9E5D8"/>
            </a:solidFill>
            <a:prstDash val="solid"/>
          </a:ln>
        </p:spPr>
        <p:txBody>
          <a:bodyPr/>
          <a:lstStyle/>
          <a:p>
            <a:endParaRPr lang="es-CO"/>
          </a:p>
        </p:txBody>
      </p:sp>
      <p:sp>
        <p:nvSpPr>
          <p:cNvPr id="20" name="Text 15"/>
          <p:cNvSpPr/>
          <p:nvPr/>
        </p:nvSpPr>
        <p:spPr>
          <a:xfrm>
            <a:off x="9370060" y="2677164"/>
            <a:ext cx="1849654"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9A5B0B"/>
                </a:solidFill>
                <a:latin typeface="Inter" pitchFamily="34" charset="0"/>
                <a:ea typeface="Inter" pitchFamily="34" charset="-122"/>
                <a:cs typeface="Inter" pitchFamily="34" charset="-120"/>
              </a:rPr>
              <a:t>PASO 4</a:t>
            </a:r>
            <a:endParaRPr lang="en-US" sz="1200" dirty="0"/>
          </a:p>
        </p:txBody>
      </p:sp>
      <p:sp>
        <p:nvSpPr>
          <p:cNvPr id="21" name="Text 16"/>
          <p:cNvSpPr/>
          <p:nvPr/>
        </p:nvSpPr>
        <p:spPr>
          <a:xfrm>
            <a:off x="9370060" y="2966721"/>
            <a:ext cx="1849654"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C2620"/>
                </a:solidFill>
                <a:latin typeface="Fraunces" pitchFamily="18" charset="0"/>
                <a:ea typeface="Fraunces" pitchFamily="18" charset="-122"/>
                <a:cs typeface="Fraunces" pitchFamily="18" charset="-120"/>
              </a:rPr>
              <a:t>Validar</a:t>
            </a:r>
            <a:endParaRPr lang="en-US" sz="2200" dirty="0"/>
          </a:p>
        </p:txBody>
      </p:sp>
      <p:sp>
        <p:nvSpPr>
          <p:cNvPr id="22" name="Text 17"/>
          <p:cNvSpPr/>
          <p:nvPr/>
        </p:nvSpPr>
        <p:spPr>
          <a:xfrm>
            <a:off x="9370060" y="3378200"/>
            <a:ext cx="1849654" cy="84836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5E6B61"/>
                </a:solidFill>
                <a:latin typeface="Inter" pitchFamily="34" charset="0"/>
                <a:ea typeface="Inter" pitchFamily="34" charset="-122"/>
                <a:cs typeface="Inter" pitchFamily="34" charset="-120"/>
              </a:rPr>
              <a:t>Validación cruzada con 5 particiones</a:t>
            </a:r>
            <a:endParaRPr lang="en-US" sz="1600" dirty="0"/>
          </a:p>
        </p:txBody>
      </p:sp>
      <p:sp>
        <p:nvSpPr>
          <p:cNvPr id="23" name="Text 18"/>
          <p:cNvSpPr/>
          <p:nvPr/>
        </p:nvSpPr>
        <p:spPr>
          <a:xfrm>
            <a:off x="812800" y="52070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B61"/>
                </a:solidFill>
                <a:latin typeface="Inter" pitchFamily="34" charset="0"/>
                <a:ea typeface="Inter" pitchFamily="34" charset="-122"/>
                <a:cs typeface="Inter" pitchFamily="34" charset="-120"/>
              </a:rPr>
              <a:t>División estratificada: la misma proporción de cada cultivo en entrenamiento y examen.</a:t>
            </a:r>
            <a:endParaRPr lang="en-US" sz="1200" dirty="0"/>
          </a:p>
        </p:txBody>
      </p:sp>
      <p:sp>
        <p:nvSpPr>
          <p:cNvPr id="24" name="Text 19"/>
          <p:cNvSpPr/>
          <p:nvPr/>
        </p:nvSpPr>
        <p:spPr>
          <a:xfrm>
            <a:off x="812800" y="6230621"/>
            <a:ext cx="8877379"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E7B71"/>
                </a:solidFill>
                <a:latin typeface="Inter" pitchFamily="34" charset="0"/>
                <a:ea typeface="Inter" pitchFamily="34" charset="-122"/>
                <a:cs typeface="Inter" pitchFamily="34" charset="-120"/>
              </a:rPr>
              <a:t>NEGOCIO   ·   DATOS   ·   </a:t>
            </a:r>
            <a:r>
              <a:rPr lang="en-US" sz="1200" b="1" kern="0" spc="100" dirty="0">
                <a:solidFill>
                  <a:srgbClr val="1E3A2C"/>
                </a:solidFill>
                <a:latin typeface="Inter" pitchFamily="34" charset="0"/>
                <a:ea typeface="Inter" pitchFamily="34" charset="-122"/>
                <a:cs typeface="Inter" pitchFamily="34" charset="-120"/>
              </a:rPr>
              <a:t>PREPARACIÓN</a:t>
            </a:r>
            <a:r>
              <a:rPr lang="en-US" sz="1200" kern="0" spc="100" dirty="0">
                <a:solidFill>
                  <a:srgbClr val="6E7B71"/>
                </a:solidFill>
                <a:latin typeface="Inter" pitchFamily="34" charset="0"/>
                <a:ea typeface="Inter" pitchFamily="34" charset="-122"/>
                <a:cs typeface="Inter" pitchFamily="34" charset="-120"/>
              </a:rPr>
              <a:t>   ·   MODELADO   ·   EVALUACIÓN   ·   DESPLIEGUE</a:t>
            </a:r>
            <a:endParaRPr lang="en-US" sz="1200" dirty="0"/>
          </a:p>
        </p:txBody>
      </p:sp>
      <p:sp>
        <p:nvSpPr>
          <p:cNvPr id="25" name="Text 20"/>
          <p:cNvSpPr/>
          <p:nvPr/>
        </p:nvSpPr>
        <p:spPr>
          <a:xfrm>
            <a:off x="10794079" y="6230621"/>
            <a:ext cx="585121"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E7B71"/>
                </a:solidFill>
                <a:latin typeface="Inter" pitchFamily="34" charset="0"/>
                <a:ea typeface="Inter" pitchFamily="34" charset="-122"/>
                <a:cs typeface="Inter" pitchFamily="34" charset="-120"/>
              </a:rPr>
              <a:t>09 / 18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9A5B0B"/>
                </a:solidFill>
                <a:latin typeface="Inter" pitchFamily="34" charset="0"/>
                <a:ea typeface="Inter" pitchFamily="34" charset="-122"/>
                <a:cs typeface="Inter" pitchFamily="34" charset="-120"/>
              </a:rPr>
              <a:t>RESULTADOS</a:t>
            </a:r>
            <a:endParaRPr lang="en-US" sz="1200" dirty="0"/>
          </a:p>
        </p:txBody>
      </p:sp>
      <p:sp>
        <p:nvSpPr>
          <p:cNvPr id="3" name="Text 1"/>
          <p:cNvSpPr>
            <a:spLocks noGrp="1"/>
          </p:cNvSpPr>
          <p:nvPr>
            <p:ph type="title"/>
          </p:nvPr>
        </p:nvSpPr>
        <p:spPr>
          <a:xfrm>
            <a:off x="812800" y="1153164"/>
            <a:ext cx="10883392" cy="519113"/>
          </a:xfrm>
          <a:prstGeom prst="rect">
            <a:avLst/>
          </a:prstGeom>
          <a:noFill/>
          <a:ln/>
        </p:spPr>
        <p:txBody>
          <a:bodyPr wrap="square" lIns="0" tIns="0" rIns="0" bIns="0" rtlCol="0" anchor="t">
            <a:normAutofit/>
          </a:bodyPr>
          <a:lstStyle/>
          <a:p>
            <a:pPr marL="0" indent="0" algn="l">
              <a:lnSpc>
                <a:spcPts val="3888"/>
              </a:lnSpc>
              <a:buNone/>
            </a:pPr>
            <a:r>
              <a:rPr lang="en-US" sz="3600" b="1" i="0" dirty="0">
                <a:solidFill>
                  <a:srgbClr val="1C2620"/>
                </a:solidFill>
                <a:latin typeface="Fraunces" pitchFamily="18" charset="0"/>
                <a:ea typeface="Fraunces" pitchFamily="18" charset="-122"/>
                <a:cs typeface="Fraunces" pitchFamily="18" charset="-120"/>
              </a:rPr>
              <a:t>Random Forest alcanza un 99,5 % de acierto</a:t>
            </a:r>
            <a:endParaRPr lang="en-US" sz="3600" dirty="0"/>
          </a:p>
        </p:txBody>
      </p:sp>
      <p:sp>
        <p:nvSpPr>
          <p:cNvPr id="4" name="Text 2"/>
          <p:cNvSpPr/>
          <p:nvPr/>
        </p:nvSpPr>
        <p:spPr>
          <a:xfrm>
            <a:off x="812800" y="2578100"/>
            <a:ext cx="26162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C2620"/>
                </a:solidFill>
                <a:latin typeface="Inter" pitchFamily="34" charset="0"/>
                <a:ea typeface="Inter" pitchFamily="34" charset="-122"/>
                <a:cs typeface="Inter" pitchFamily="34" charset="-120"/>
              </a:rPr>
              <a:t>Baseline (azar)</a:t>
            </a:r>
            <a:endParaRPr lang="en-US" sz="1600" dirty="0"/>
          </a:p>
        </p:txBody>
      </p:sp>
      <p:sp>
        <p:nvSpPr>
          <p:cNvPr id="5" name="Shape 3"/>
          <p:cNvSpPr/>
          <p:nvPr/>
        </p:nvSpPr>
        <p:spPr>
          <a:xfrm>
            <a:off x="3556000" y="2476500"/>
            <a:ext cx="285750" cy="533400"/>
          </a:xfrm>
          <a:custGeom>
            <a:avLst/>
            <a:gdLst/>
            <a:ahLst/>
            <a:cxnLst/>
            <a:rect l="l" t="t" r="r" b="b"/>
            <a:pathLst>
              <a:path w="285750" h="533400">
                <a:moveTo>
                  <a:pt x="0" y="0"/>
                </a:moveTo>
                <a:lnTo>
                  <a:pt x="209550" y="0"/>
                </a:lnTo>
                <a:arcTo wR="76200" hR="76200" stAng="16200000" swAng="5400000"/>
                <a:lnTo>
                  <a:pt x="285750" y="457200"/>
                </a:lnTo>
                <a:arcTo wR="76200" hR="76200" stAng="0" swAng="5400000"/>
                <a:lnTo>
                  <a:pt x="0" y="533400"/>
                </a:lnTo>
                <a:lnTo>
                  <a:pt x="0" y="0"/>
                </a:lnTo>
                <a:close/>
              </a:path>
            </a:pathLst>
          </a:custGeom>
          <a:solidFill>
            <a:srgbClr val="C9C3AE"/>
          </a:solidFill>
          <a:ln/>
        </p:spPr>
        <p:txBody>
          <a:bodyPr/>
          <a:lstStyle/>
          <a:p>
            <a:endParaRPr lang="es-CO"/>
          </a:p>
        </p:txBody>
      </p:sp>
      <p:sp>
        <p:nvSpPr>
          <p:cNvPr id="6" name="Text 4"/>
          <p:cNvSpPr/>
          <p:nvPr/>
        </p:nvSpPr>
        <p:spPr>
          <a:xfrm>
            <a:off x="3994150" y="2501900"/>
            <a:ext cx="14478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5E6B61"/>
                </a:solidFill>
                <a:latin typeface="Fraunces" pitchFamily="18" charset="0"/>
                <a:ea typeface="Fraunces" pitchFamily="18" charset="-122"/>
                <a:cs typeface="Fraunces" pitchFamily="18" charset="-120"/>
              </a:rPr>
              <a:t>4,5 %</a:t>
            </a:r>
            <a:endParaRPr lang="en-US" sz="2200" dirty="0"/>
          </a:p>
        </p:txBody>
      </p:sp>
      <p:sp>
        <p:nvSpPr>
          <p:cNvPr id="7" name="Text 5"/>
          <p:cNvSpPr/>
          <p:nvPr/>
        </p:nvSpPr>
        <p:spPr>
          <a:xfrm>
            <a:off x="812800" y="3530600"/>
            <a:ext cx="26162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C2620"/>
                </a:solidFill>
                <a:latin typeface="Inter" pitchFamily="34" charset="0"/>
                <a:ea typeface="Inter" pitchFamily="34" charset="-122"/>
                <a:cs typeface="Inter" pitchFamily="34" charset="-120"/>
              </a:rPr>
              <a:t>Árbol de Decisión</a:t>
            </a:r>
            <a:endParaRPr lang="en-US" sz="1600" dirty="0"/>
          </a:p>
        </p:txBody>
      </p:sp>
      <p:sp>
        <p:nvSpPr>
          <p:cNvPr id="8" name="Shape 6"/>
          <p:cNvSpPr/>
          <p:nvPr/>
        </p:nvSpPr>
        <p:spPr>
          <a:xfrm>
            <a:off x="3556000" y="3429000"/>
            <a:ext cx="6203950" cy="533400"/>
          </a:xfrm>
          <a:custGeom>
            <a:avLst/>
            <a:gdLst/>
            <a:ahLst/>
            <a:cxnLst/>
            <a:rect l="l" t="t" r="r" b="b"/>
            <a:pathLst>
              <a:path w="6203950" h="533400">
                <a:moveTo>
                  <a:pt x="0" y="0"/>
                </a:moveTo>
                <a:lnTo>
                  <a:pt x="6127750" y="0"/>
                </a:lnTo>
                <a:arcTo wR="76200" hR="76200" stAng="16200000" swAng="5400000"/>
                <a:lnTo>
                  <a:pt x="6203950" y="457200"/>
                </a:lnTo>
                <a:arcTo wR="76200" hR="76200" stAng="0" swAng="5400000"/>
                <a:lnTo>
                  <a:pt x="0" y="533400"/>
                </a:lnTo>
                <a:lnTo>
                  <a:pt x="0" y="0"/>
                </a:lnTo>
                <a:close/>
              </a:path>
            </a:pathLst>
          </a:custGeom>
          <a:solidFill>
            <a:srgbClr val="7DB55A"/>
          </a:solidFill>
          <a:ln/>
        </p:spPr>
        <p:txBody>
          <a:bodyPr/>
          <a:lstStyle/>
          <a:p>
            <a:endParaRPr lang="es-CO"/>
          </a:p>
        </p:txBody>
      </p:sp>
      <p:sp>
        <p:nvSpPr>
          <p:cNvPr id="9" name="Text 7"/>
          <p:cNvSpPr/>
          <p:nvPr/>
        </p:nvSpPr>
        <p:spPr>
          <a:xfrm>
            <a:off x="9912350" y="3454400"/>
            <a:ext cx="14478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1C2620"/>
                </a:solidFill>
                <a:latin typeface="Fraunces" pitchFamily="18" charset="0"/>
                <a:ea typeface="Fraunces" pitchFamily="18" charset="-122"/>
                <a:cs typeface="Fraunces" pitchFamily="18" charset="-120"/>
              </a:rPr>
              <a:t>97,7 %</a:t>
            </a:r>
            <a:endParaRPr lang="en-US" sz="2200" dirty="0"/>
          </a:p>
        </p:txBody>
      </p:sp>
      <p:sp>
        <p:nvSpPr>
          <p:cNvPr id="10" name="Text 8"/>
          <p:cNvSpPr/>
          <p:nvPr/>
        </p:nvSpPr>
        <p:spPr>
          <a:xfrm>
            <a:off x="812800" y="4483100"/>
            <a:ext cx="26162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C2620"/>
                </a:solidFill>
                <a:latin typeface="Inter" pitchFamily="34" charset="0"/>
                <a:ea typeface="Inter" pitchFamily="34" charset="-122"/>
                <a:cs typeface="Inter" pitchFamily="34" charset="-120"/>
              </a:rPr>
              <a:t>Random Forest</a:t>
            </a:r>
            <a:endParaRPr lang="en-US" sz="1600" dirty="0"/>
          </a:p>
        </p:txBody>
      </p:sp>
      <p:sp>
        <p:nvSpPr>
          <p:cNvPr id="11" name="Shape 9"/>
          <p:cNvSpPr/>
          <p:nvPr/>
        </p:nvSpPr>
        <p:spPr>
          <a:xfrm>
            <a:off x="3556000" y="4381500"/>
            <a:ext cx="6318250" cy="533400"/>
          </a:xfrm>
          <a:custGeom>
            <a:avLst/>
            <a:gdLst/>
            <a:ahLst/>
            <a:cxnLst/>
            <a:rect l="l" t="t" r="r" b="b"/>
            <a:pathLst>
              <a:path w="6318250" h="533400">
                <a:moveTo>
                  <a:pt x="0" y="0"/>
                </a:moveTo>
                <a:lnTo>
                  <a:pt x="6242050" y="0"/>
                </a:lnTo>
                <a:arcTo wR="76200" hR="76200" stAng="16200000" swAng="5400000"/>
                <a:lnTo>
                  <a:pt x="6318250" y="457200"/>
                </a:lnTo>
                <a:arcTo wR="76200" hR="76200" stAng="0" swAng="5400000"/>
                <a:lnTo>
                  <a:pt x="0" y="533400"/>
                </a:lnTo>
                <a:lnTo>
                  <a:pt x="0" y="0"/>
                </a:lnTo>
                <a:close/>
              </a:path>
            </a:pathLst>
          </a:custGeom>
          <a:solidFill>
            <a:srgbClr val="1E3A2C"/>
          </a:solidFill>
          <a:ln/>
        </p:spPr>
        <p:txBody>
          <a:bodyPr/>
          <a:lstStyle/>
          <a:p>
            <a:endParaRPr lang="es-CO"/>
          </a:p>
        </p:txBody>
      </p:sp>
      <p:sp>
        <p:nvSpPr>
          <p:cNvPr id="12" name="Text 10"/>
          <p:cNvSpPr/>
          <p:nvPr/>
        </p:nvSpPr>
        <p:spPr>
          <a:xfrm>
            <a:off x="10026650" y="4406900"/>
            <a:ext cx="14478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9A5B0B"/>
                </a:solidFill>
                <a:latin typeface="Fraunces" pitchFamily="18" charset="0"/>
                <a:ea typeface="Fraunces" pitchFamily="18" charset="-122"/>
                <a:cs typeface="Fraunces" pitchFamily="18" charset="-120"/>
              </a:rPr>
              <a:t>99,5 %</a:t>
            </a:r>
            <a:endParaRPr lang="en-US" sz="2200" dirty="0"/>
          </a:p>
        </p:txBody>
      </p:sp>
      <p:sp>
        <p:nvSpPr>
          <p:cNvPr id="13" name="Text 11"/>
          <p:cNvSpPr/>
          <p:nvPr/>
        </p:nvSpPr>
        <p:spPr>
          <a:xfrm>
            <a:off x="812800" y="53340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B61"/>
                </a:solidFill>
                <a:latin typeface="Inter" pitchFamily="34" charset="0"/>
                <a:ea typeface="Inter" pitchFamily="34" charset="-122"/>
                <a:cs typeface="Inter" pitchFamily="34" charset="-120"/>
              </a:rPr>
              <a:t>Acierto medio en validación cruzada de 5 particiones · 2.200 parcelas</a:t>
            </a:r>
            <a:endParaRPr lang="en-US" sz="1200" dirty="0"/>
          </a:p>
        </p:txBody>
      </p:sp>
      <p:sp>
        <p:nvSpPr>
          <p:cNvPr id="14" name="Text 12"/>
          <p:cNvSpPr/>
          <p:nvPr/>
        </p:nvSpPr>
        <p:spPr>
          <a:xfrm>
            <a:off x="812800" y="6230621"/>
            <a:ext cx="8910558"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E7B71"/>
                </a:solidFill>
                <a:latin typeface="Inter" pitchFamily="34" charset="0"/>
                <a:ea typeface="Inter" pitchFamily="34" charset="-122"/>
                <a:cs typeface="Inter" pitchFamily="34" charset="-120"/>
              </a:rPr>
              <a:t>NEGOCIO   ·   DATOS   ·   PREPARACIÓN   ·   MODELADO   ·   </a:t>
            </a:r>
            <a:r>
              <a:rPr lang="en-US" sz="1200" b="1" kern="0" spc="100" dirty="0">
                <a:solidFill>
                  <a:srgbClr val="1E3A2C"/>
                </a:solidFill>
                <a:latin typeface="Inter" pitchFamily="34" charset="0"/>
                <a:ea typeface="Inter" pitchFamily="34" charset="-122"/>
                <a:cs typeface="Inter" pitchFamily="34" charset="-120"/>
              </a:rPr>
              <a:t>EVALUACIÓN</a:t>
            </a:r>
            <a:r>
              <a:rPr lang="en-US" sz="1200" kern="0" spc="100" dirty="0">
                <a:solidFill>
                  <a:srgbClr val="6E7B71"/>
                </a:solidFill>
                <a:latin typeface="Inter" pitchFamily="34" charset="0"/>
                <a:ea typeface="Inter" pitchFamily="34" charset="-122"/>
                <a:cs typeface="Inter" pitchFamily="34" charset="-120"/>
              </a:rPr>
              <a:t>   ·   DESPLIEGUE</a:t>
            </a:r>
            <a:endParaRPr lang="en-US" sz="1200" dirty="0"/>
          </a:p>
        </p:txBody>
      </p:sp>
      <p:sp>
        <p:nvSpPr>
          <p:cNvPr id="15" name="Text 13"/>
          <p:cNvSpPr/>
          <p:nvPr/>
        </p:nvSpPr>
        <p:spPr>
          <a:xfrm>
            <a:off x="10874089" y="6230621"/>
            <a:ext cx="505111"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E7B71"/>
                </a:solidFill>
                <a:latin typeface="Inter" pitchFamily="34" charset="0"/>
                <a:ea typeface="Inter" pitchFamily="34" charset="-122"/>
                <a:cs typeface="Inter" pitchFamily="34" charset="-120"/>
              </a:rPr>
              <a:t>11 / 18</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9A5B0B"/>
                </a:solidFill>
                <a:latin typeface="Inter" pitchFamily="34" charset="0"/>
                <a:ea typeface="Inter" pitchFamily="34" charset="-122"/>
                <a:cs typeface="Inter" pitchFamily="34" charset="-120"/>
              </a:rPr>
              <a:t>MATRIZ DE CONFUSIÓN</a:t>
            </a:r>
            <a:endParaRPr lang="en-US" sz="1200" dirty="0"/>
          </a:p>
        </p:txBody>
      </p:sp>
      <p:sp>
        <p:nvSpPr>
          <p:cNvPr id="3" name="Text 1"/>
          <p:cNvSpPr>
            <a:spLocks noGrp="1"/>
          </p:cNvSpPr>
          <p:nvPr>
            <p:ph type="title"/>
          </p:nvPr>
        </p:nvSpPr>
        <p:spPr>
          <a:xfrm>
            <a:off x="812800" y="1153164"/>
            <a:ext cx="10883392" cy="519113"/>
          </a:xfrm>
          <a:prstGeom prst="rect">
            <a:avLst/>
          </a:prstGeom>
          <a:noFill/>
          <a:ln/>
        </p:spPr>
        <p:txBody>
          <a:bodyPr wrap="square" lIns="0" tIns="0" rIns="0" bIns="0" rtlCol="0" anchor="t">
            <a:normAutofit/>
          </a:bodyPr>
          <a:lstStyle/>
          <a:p>
            <a:pPr marL="0" indent="0" algn="l">
              <a:lnSpc>
                <a:spcPts val="3888"/>
              </a:lnSpc>
              <a:buNone/>
            </a:pPr>
            <a:r>
              <a:rPr lang="en-US" sz="3600" b="1" i="0" dirty="0">
                <a:solidFill>
                  <a:srgbClr val="1C2620"/>
                </a:solidFill>
                <a:latin typeface="Fraunces" pitchFamily="18" charset="0"/>
                <a:ea typeface="Fraunces" pitchFamily="18" charset="-122"/>
                <a:cs typeface="Fraunces" pitchFamily="18" charset="-120"/>
              </a:rPr>
              <a:t>Las 440 parcelas del examen, bien clasificadas</a:t>
            </a:r>
            <a:endParaRPr lang="en-US" sz="3600" dirty="0"/>
          </a:p>
        </p:txBody>
      </p:sp>
      <p:pic>
        <p:nvPicPr>
          <p:cNvPr id="4" name="Image 0" descr="Matriz de confusión de 22 por 22 cultivos: todas las predicciones en la diagonal"/>
          <p:cNvPicPr>
            <a:picLocks noChangeAspect="1"/>
          </p:cNvPicPr>
          <p:nvPr/>
        </p:nvPicPr>
        <p:blipFill>
          <a:blip r:embed="rId3"/>
          <a:srcRect/>
          <a:stretch/>
        </p:blipFill>
        <p:spPr>
          <a:xfrm>
            <a:off x="812800" y="2032000"/>
            <a:ext cx="3632200" cy="3632200"/>
          </a:xfrm>
          <a:prstGeom prst="rect">
            <a:avLst/>
          </a:prstGeom>
        </p:spPr>
      </p:pic>
      <p:sp>
        <p:nvSpPr>
          <p:cNvPr id="5" name="Text 2"/>
          <p:cNvSpPr/>
          <p:nvPr/>
        </p:nvSpPr>
        <p:spPr>
          <a:xfrm>
            <a:off x="812800" y="5715000"/>
            <a:ext cx="374116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B61"/>
                </a:solidFill>
                <a:latin typeface="Inter" pitchFamily="34" charset="0"/>
                <a:ea typeface="Inter" pitchFamily="34" charset="-122"/>
                <a:cs typeface="Inter" pitchFamily="34" charset="-120"/>
              </a:rPr>
              <a:t>cultivo real ↓  ·  predicción →</a:t>
            </a:r>
            <a:endParaRPr lang="en-US" sz="1200" dirty="0"/>
          </a:p>
        </p:txBody>
      </p:sp>
      <p:sp>
        <p:nvSpPr>
          <p:cNvPr id="6" name="Text 3"/>
          <p:cNvSpPr/>
          <p:nvPr/>
        </p:nvSpPr>
        <p:spPr>
          <a:xfrm>
            <a:off x="5207000" y="2095500"/>
            <a:ext cx="5886450"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1E3A2C"/>
                </a:solidFill>
                <a:latin typeface="Fraunces" pitchFamily="18" charset="0"/>
                <a:ea typeface="Fraunces" pitchFamily="18" charset="-122"/>
                <a:cs typeface="Fraunces" pitchFamily="18" charset="-120"/>
              </a:rPr>
              <a:t>100 %</a:t>
            </a:r>
            <a:endParaRPr lang="en-US" sz="8000" dirty="0"/>
          </a:p>
        </p:txBody>
      </p:sp>
      <p:sp>
        <p:nvSpPr>
          <p:cNvPr id="7" name="Text 4"/>
          <p:cNvSpPr/>
          <p:nvPr/>
        </p:nvSpPr>
        <p:spPr>
          <a:xfrm>
            <a:off x="5207000" y="3302000"/>
            <a:ext cx="5886450"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E6B61"/>
                </a:solidFill>
                <a:latin typeface="Inter" pitchFamily="34" charset="0"/>
                <a:ea typeface="Inter" pitchFamily="34" charset="-122"/>
                <a:cs typeface="Inter" pitchFamily="34" charset="-120"/>
              </a:rPr>
              <a:t>de acierto en el examen final, con datos que el modelo nunca había visto.</a:t>
            </a:r>
            <a:endParaRPr lang="en-US" sz="1600" dirty="0"/>
          </a:p>
        </p:txBody>
      </p:sp>
      <p:sp>
        <p:nvSpPr>
          <p:cNvPr id="8" name="Shape 5"/>
          <p:cNvSpPr/>
          <p:nvPr/>
        </p:nvSpPr>
        <p:spPr>
          <a:xfrm>
            <a:off x="5213350" y="4324350"/>
            <a:ext cx="241300" cy="241300"/>
          </a:xfrm>
          <a:prstGeom prst="roundRect">
            <a:avLst>
              <a:gd name="adj" fmla="val 13158"/>
            </a:avLst>
          </a:prstGeom>
          <a:solidFill>
            <a:srgbClr val="1E3A2C"/>
          </a:solidFill>
          <a:ln w="12700">
            <a:solidFill>
              <a:srgbClr val="CFC9B5"/>
            </a:solidFill>
            <a:prstDash val="solid"/>
          </a:ln>
        </p:spPr>
        <p:txBody>
          <a:bodyPr/>
          <a:lstStyle/>
          <a:p>
            <a:endParaRPr lang="es-CO"/>
          </a:p>
        </p:txBody>
      </p:sp>
      <p:sp>
        <p:nvSpPr>
          <p:cNvPr id="9" name="Text 6"/>
          <p:cNvSpPr/>
          <p:nvPr/>
        </p:nvSpPr>
        <p:spPr>
          <a:xfrm>
            <a:off x="5613400" y="4318000"/>
            <a:ext cx="562483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C2620"/>
                </a:solidFill>
                <a:latin typeface="Inter" pitchFamily="34" charset="0"/>
                <a:ea typeface="Inter" pitchFamily="34" charset="-122"/>
                <a:cs typeface="Inter" pitchFamily="34" charset="-120"/>
              </a:rPr>
              <a:t>Diagonal: aciertos (20 por cultivo)</a:t>
            </a:r>
            <a:endParaRPr lang="en-US" sz="1600" dirty="0"/>
          </a:p>
        </p:txBody>
      </p:sp>
      <p:sp>
        <p:nvSpPr>
          <p:cNvPr id="10" name="Shape 7"/>
          <p:cNvSpPr/>
          <p:nvPr/>
        </p:nvSpPr>
        <p:spPr>
          <a:xfrm>
            <a:off x="5213350" y="4768850"/>
            <a:ext cx="241300" cy="241300"/>
          </a:xfrm>
          <a:prstGeom prst="roundRect">
            <a:avLst>
              <a:gd name="adj" fmla="val 13158"/>
            </a:avLst>
          </a:prstGeom>
          <a:solidFill>
            <a:srgbClr val="E9E5D8"/>
          </a:solidFill>
          <a:ln w="12700">
            <a:solidFill>
              <a:srgbClr val="CFC9B5"/>
            </a:solidFill>
            <a:prstDash val="solid"/>
          </a:ln>
        </p:spPr>
        <p:txBody>
          <a:bodyPr/>
          <a:lstStyle/>
          <a:p>
            <a:endParaRPr lang="es-CO"/>
          </a:p>
        </p:txBody>
      </p:sp>
      <p:sp>
        <p:nvSpPr>
          <p:cNvPr id="11" name="Text 8"/>
          <p:cNvSpPr/>
          <p:nvPr/>
        </p:nvSpPr>
        <p:spPr>
          <a:xfrm>
            <a:off x="5613400" y="4762500"/>
            <a:ext cx="562483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C2620"/>
                </a:solidFill>
                <a:latin typeface="Inter" pitchFamily="34" charset="0"/>
                <a:ea typeface="Inter" pitchFamily="34" charset="-122"/>
                <a:cs typeface="Inter" pitchFamily="34" charset="-120"/>
              </a:rPr>
              <a:t>Fuera de la diagonal: errores (ninguno)</a:t>
            </a:r>
            <a:endParaRPr lang="en-US" sz="1600" dirty="0"/>
          </a:p>
        </p:txBody>
      </p:sp>
      <p:sp>
        <p:nvSpPr>
          <p:cNvPr id="12" name="Text 9"/>
          <p:cNvSpPr/>
          <p:nvPr/>
        </p:nvSpPr>
        <p:spPr>
          <a:xfrm>
            <a:off x="812800" y="6230621"/>
            <a:ext cx="8895080"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E7B71"/>
                </a:solidFill>
                <a:latin typeface="Inter" pitchFamily="34" charset="0"/>
                <a:ea typeface="Inter" pitchFamily="34" charset="-122"/>
                <a:cs typeface="Inter" pitchFamily="34" charset="-120"/>
              </a:rPr>
              <a:t>NEGOCIO   ·   DATOS   ·   PREPARACIÓN   ·   MODELADO   ·   </a:t>
            </a:r>
            <a:r>
              <a:rPr lang="en-US" sz="1200" b="1" kern="0" spc="100" dirty="0">
                <a:solidFill>
                  <a:srgbClr val="1E3A2C"/>
                </a:solidFill>
                <a:latin typeface="Inter" pitchFamily="34" charset="0"/>
                <a:ea typeface="Inter" pitchFamily="34" charset="-122"/>
                <a:cs typeface="Inter" pitchFamily="34" charset="-120"/>
              </a:rPr>
              <a:t>EVALUACIÓN</a:t>
            </a:r>
            <a:r>
              <a:rPr lang="en-US" sz="1200" kern="0" spc="100" dirty="0">
                <a:solidFill>
                  <a:srgbClr val="6E7B71"/>
                </a:solidFill>
                <a:latin typeface="Inter" pitchFamily="34" charset="0"/>
                <a:ea typeface="Inter" pitchFamily="34" charset="-122"/>
                <a:cs typeface="Inter" pitchFamily="34" charset="-120"/>
              </a:rPr>
              <a:t>   ·   DESPLIEGUE</a:t>
            </a:r>
            <a:endParaRPr lang="en-US" sz="1200" dirty="0"/>
          </a:p>
        </p:txBody>
      </p:sp>
      <p:sp>
        <p:nvSpPr>
          <p:cNvPr id="13" name="Text 10"/>
          <p:cNvSpPr/>
          <p:nvPr/>
        </p:nvSpPr>
        <p:spPr>
          <a:xfrm>
            <a:off x="10836942" y="6230621"/>
            <a:ext cx="542258"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E7B71"/>
                </a:solidFill>
                <a:latin typeface="Inter" pitchFamily="34" charset="0"/>
                <a:ea typeface="Inter" pitchFamily="34" charset="-122"/>
                <a:cs typeface="Inter" pitchFamily="34" charset="-120"/>
              </a:rPr>
              <a:t>12 / 18</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5F2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9A5B0B"/>
                </a:solidFill>
                <a:latin typeface="Inter" pitchFamily="34" charset="0"/>
                <a:ea typeface="Inter" pitchFamily="34" charset="-122"/>
                <a:cs typeface="Inter" pitchFamily="34" charset="-120"/>
              </a:rPr>
              <a:t>INTERPRETACIÓN</a:t>
            </a:r>
            <a:endParaRPr lang="en-US" sz="1200" dirty="0"/>
          </a:p>
        </p:txBody>
      </p:sp>
      <p:sp>
        <p:nvSpPr>
          <p:cNvPr id="3" name="Text 1"/>
          <p:cNvSpPr>
            <a:spLocks noGrp="1"/>
          </p:cNvSpPr>
          <p:nvPr>
            <p:ph type="title"/>
          </p:nvPr>
        </p:nvSpPr>
        <p:spPr>
          <a:xfrm>
            <a:off x="812800" y="1153164"/>
            <a:ext cx="10883392" cy="519113"/>
          </a:xfrm>
          <a:prstGeom prst="rect">
            <a:avLst/>
          </a:prstGeom>
          <a:noFill/>
          <a:ln/>
        </p:spPr>
        <p:txBody>
          <a:bodyPr wrap="square" lIns="0" tIns="0" rIns="0" bIns="0" rtlCol="0" anchor="t">
            <a:normAutofit/>
          </a:bodyPr>
          <a:lstStyle/>
          <a:p>
            <a:pPr marL="0" indent="0" algn="l">
              <a:lnSpc>
                <a:spcPts val="3888"/>
              </a:lnSpc>
              <a:buNone/>
            </a:pPr>
            <a:r>
              <a:rPr lang="en-US" sz="3600" b="1" i="0" dirty="0">
                <a:solidFill>
                  <a:srgbClr val="1C2620"/>
                </a:solidFill>
                <a:latin typeface="Fraunces" pitchFamily="18" charset="0"/>
                <a:ea typeface="Fraunces" pitchFamily="18" charset="-122"/>
                <a:cs typeface="Fraunces" pitchFamily="18" charset="-120"/>
              </a:rPr>
              <a:t>El agua es el factor más determinante</a:t>
            </a:r>
            <a:endParaRPr lang="en-US" sz="3600" dirty="0"/>
          </a:p>
        </p:txBody>
      </p:sp>
      <p:sp>
        <p:nvSpPr>
          <p:cNvPr id="4" name="Text 2"/>
          <p:cNvSpPr/>
          <p:nvPr/>
        </p:nvSpPr>
        <p:spPr>
          <a:xfrm>
            <a:off x="812800" y="2070100"/>
            <a:ext cx="1701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C2620"/>
                </a:solidFill>
                <a:latin typeface="Inter" pitchFamily="34" charset="0"/>
                <a:ea typeface="Inter" pitchFamily="34" charset="-122"/>
                <a:cs typeface="Inter" pitchFamily="34" charset="-120"/>
              </a:rPr>
              <a:t>Lluvia</a:t>
            </a:r>
            <a:endParaRPr lang="en-US" sz="1600" dirty="0"/>
          </a:p>
        </p:txBody>
      </p:sp>
      <p:sp>
        <p:nvSpPr>
          <p:cNvPr id="5" name="Shape 3"/>
          <p:cNvSpPr/>
          <p:nvPr/>
        </p:nvSpPr>
        <p:spPr>
          <a:xfrm>
            <a:off x="2540000" y="2032000"/>
            <a:ext cx="5207000" cy="355600"/>
          </a:xfrm>
          <a:custGeom>
            <a:avLst/>
            <a:gdLst/>
            <a:ahLst/>
            <a:cxnLst/>
            <a:rect l="l" t="t" r="r" b="b"/>
            <a:pathLst>
              <a:path w="5207000" h="355600">
                <a:moveTo>
                  <a:pt x="0" y="0"/>
                </a:moveTo>
                <a:lnTo>
                  <a:pt x="5143500" y="0"/>
                </a:lnTo>
                <a:arcTo wR="63500" hR="63500" stAng="16200000" swAng="5400000"/>
                <a:lnTo>
                  <a:pt x="5207000" y="292100"/>
                </a:lnTo>
                <a:arcTo wR="63500" hR="63500" stAng="0" swAng="5400000"/>
                <a:lnTo>
                  <a:pt x="0" y="355600"/>
                </a:lnTo>
                <a:lnTo>
                  <a:pt x="0" y="0"/>
                </a:lnTo>
                <a:close/>
              </a:path>
            </a:pathLst>
          </a:custGeom>
          <a:solidFill>
            <a:srgbClr val="1E3A2C"/>
          </a:solidFill>
          <a:ln/>
        </p:spPr>
        <p:txBody>
          <a:bodyPr/>
          <a:lstStyle/>
          <a:p>
            <a:endParaRPr lang="es-CO"/>
          </a:p>
        </p:txBody>
      </p:sp>
      <p:sp>
        <p:nvSpPr>
          <p:cNvPr id="6" name="Text 4"/>
          <p:cNvSpPr/>
          <p:nvPr/>
        </p:nvSpPr>
        <p:spPr>
          <a:xfrm>
            <a:off x="7874000" y="2070100"/>
            <a:ext cx="1066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C2620"/>
                </a:solidFill>
                <a:latin typeface="Inter" pitchFamily="34" charset="0"/>
                <a:ea typeface="Inter" pitchFamily="34" charset="-122"/>
                <a:cs typeface="Inter" pitchFamily="34" charset="-120"/>
              </a:rPr>
              <a:t>23,0 %</a:t>
            </a:r>
            <a:endParaRPr lang="en-US" sz="1600" dirty="0"/>
          </a:p>
        </p:txBody>
      </p:sp>
      <p:sp>
        <p:nvSpPr>
          <p:cNvPr id="7" name="Text 5"/>
          <p:cNvSpPr/>
          <p:nvPr/>
        </p:nvSpPr>
        <p:spPr>
          <a:xfrm>
            <a:off x="812800" y="2552700"/>
            <a:ext cx="1701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C2620"/>
                </a:solidFill>
                <a:latin typeface="Inter" pitchFamily="34" charset="0"/>
                <a:ea typeface="Inter" pitchFamily="34" charset="-122"/>
                <a:cs typeface="Inter" pitchFamily="34" charset="-120"/>
              </a:rPr>
              <a:t>Humedad</a:t>
            </a:r>
            <a:endParaRPr lang="en-US" sz="1600" dirty="0"/>
          </a:p>
        </p:txBody>
      </p:sp>
      <p:sp>
        <p:nvSpPr>
          <p:cNvPr id="8" name="Shape 6"/>
          <p:cNvSpPr/>
          <p:nvPr/>
        </p:nvSpPr>
        <p:spPr>
          <a:xfrm>
            <a:off x="2540000" y="2514600"/>
            <a:ext cx="5073650" cy="355600"/>
          </a:xfrm>
          <a:custGeom>
            <a:avLst/>
            <a:gdLst/>
            <a:ahLst/>
            <a:cxnLst/>
            <a:rect l="l" t="t" r="r" b="b"/>
            <a:pathLst>
              <a:path w="5073650" h="355600">
                <a:moveTo>
                  <a:pt x="0" y="0"/>
                </a:moveTo>
                <a:lnTo>
                  <a:pt x="5010150" y="0"/>
                </a:lnTo>
                <a:arcTo wR="63500" hR="63500" stAng="16200000" swAng="5400000"/>
                <a:lnTo>
                  <a:pt x="5073650" y="292100"/>
                </a:lnTo>
                <a:arcTo wR="63500" hR="63500" stAng="0" swAng="5400000"/>
                <a:lnTo>
                  <a:pt x="0" y="355600"/>
                </a:lnTo>
                <a:lnTo>
                  <a:pt x="0" y="0"/>
                </a:lnTo>
                <a:close/>
              </a:path>
            </a:pathLst>
          </a:custGeom>
          <a:solidFill>
            <a:srgbClr val="1E3A2C"/>
          </a:solidFill>
          <a:ln/>
        </p:spPr>
        <p:txBody>
          <a:bodyPr/>
          <a:lstStyle/>
          <a:p>
            <a:endParaRPr lang="es-CO"/>
          </a:p>
        </p:txBody>
      </p:sp>
      <p:sp>
        <p:nvSpPr>
          <p:cNvPr id="9" name="Text 7"/>
          <p:cNvSpPr/>
          <p:nvPr/>
        </p:nvSpPr>
        <p:spPr>
          <a:xfrm>
            <a:off x="7740650" y="2552700"/>
            <a:ext cx="106680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C2620"/>
                </a:solidFill>
                <a:latin typeface="Inter" pitchFamily="34" charset="0"/>
                <a:ea typeface="Inter" pitchFamily="34" charset="-122"/>
                <a:cs typeface="Inter" pitchFamily="34" charset="-120"/>
              </a:rPr>
              <a:t>22,4 %</a:t>
            </a:r>
            <a:endParaRPr lang="en-US" sz="1600" dirty="0"/>
          </a:p>
        </p:txBody>
      </p:sp>
      <p:sp>
        <p:nvSpPr>
          <p:cNvPr id="10" name="Text 8"/>
          <p:cNvSpPr/>
          <p:nvPr/>
        </p:nvSpPr>
        <p:spPr>
          <a:xfrm>
            <a:off x="812800" y="3035300"/>
            <a:ext cx="17018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C2620"/>
                </a:solidFill>
                <a:latin typeface="Inter" pitchFamily="34" charset="0"/>
                <a:ea typeface="Inter" pitchFamily="34" charset="-122"/>
                <a:cs typeface="Inter" pitchFamily="34" charset="-120"/>
              </a:rPr>
              <a:t>Potasio</a:t>
            </a:r>
            <a:endParaRPr lang="en-US" sz="1600" dirty="0"/>
          </a:p>
        </p:txBody>
      </p:sp>
      <p:sp>
        <p:nvSpPr>
          <p:cNvPr id="11" name="Shape 9"/>
          <p:cNvSpPr/>
          <p:nvPr/>
        </p:nvSpPr>
        <p:spPr>
          <a:xfrm>
            <a:off x="2540000" y="2997200"/>
            <a:ext cx="3962400" cy="355600"/>
          </a:xfrm>
          <a:custGeom>
            <a:avLst/>
            <a:gdLst/>
            <a:ahLst/>
            <a:cxnLst/>
            <a:rect l="l" t="t" r="r" b="b"/>
            <a:pathLst>
              <a:path w="3962400" h="355600">
                <a:moveTo>
                  <a:pt x="0" y="0"/>
                </a:moveTo>
                <a:lnTo>
                  <a:pt x="3898900" y="0"/>
                </a:lnTo>
                <a:arcTo wR="63500" hR="63500" stAng="16200000" swAng="5400000"/>
                <a:lnTo>
                  <a:pt x="3962400" y="292100"/>
                </a:lnTo>
                <a:arcTo wR="63500" hR="63500" stAng="0" swAng="5400000"/>
                <a:lnTo>
                  <a:pt x="0" y="355600"/>
                </a:lnTo>
                <a:lnTo>
                  <a:pt x="0" y="0"/>
                </a:lnTo>
                <a:close/>
              </a:path>
            </a:pathLst>
          </a:custGeom>
          <a:solidFill>
            <a:srgbClr val="9CC07A"/>
          </a:solidFill>
          <a:ln/>
        </p:spPr>
        <p:txBody>
          <a:bodyPr/>
          <a:lstStyle/>
          <a:p>
            <a:endParaRPr lang="es-CO"/>
          </a:p>
        </p:txBody>
      </p:sp>
      <p:sp>
        <p:nvSpPr>
          <p:cNvPr id="12" name="Text 10"/>
          <p:cNvSpPr/>
          <p:nvPr/>
        </p:nvSpPr>
        <p:spPr>
          <a:xfrm>
            <a:off x="6629400" y="3035300"/>
            <a:ext cx="10668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E6B61"/>
                </a:solidFill>
                <a:latin typeface="Inter" pitchFamily="34" charset="0"/>
                <a:ea typeface="Inter" pitchFamily="34" charset="-122"/>
                <a:cs typeface="Inter" pitchFamily="34" charset="-120"/>
              </a:rPr>
              <a:t>17,5 %</a:t>
            </a:r>
            <a:endParaRPr lang="en-US" sz="1600" dirty="0"/>
          </a:p>
        </p:txBody>
      </p:sp>
      <p:sp>
        <p:nvSpPr>
          <p:cNvPr id="13" name="Text 11"/>
          <p:cNvSpPr/>
          <p:nvPr/>
        </p:nvSpPr>
        <p:spPr>
          <a:xfrm>
            <a:off x="812800" y="3517900"/>
            <a:ext cx="17018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C2620"/>
                </a:solidFill>
                <a:latin typeface="Inter" pitchFamily="34" charset="0"/>
                <a:ea typeface="Inter" pitchFamily="34" charset="-122"/>
                <a:cs typeface="Inter" pitchFamily="34" charset="-120"/>
              </a:rPr>
              <a:t>Fósforo</a:t>
            </a:r>
            <a:endParaRPr lang="en-US" sz="1600" dirty="0"/>
          </a:p>
        </p:txBody>
      </p:sp>
      <p:sp>
        <p:nvSpPr>
          <p:cNvPr id="14" name="Shape 12"/>
          <p:cNvSpPr/>
          <p:nvPr/>
        </p:nvSpPr>
        <p:spPr>
          <a:xfrm>
            <a:off x="2540000" y="3479800"/>
            <a:ext cx="3416300" cy="355600"/>
          </a:xfrm>
          <a:custGeom>
            <a:avLst/>
            <a:gdLst/>
            <a:ahLst/>
            <a:cxnLst/>
            <a:rect l="l" t="t" r="r" b="b"/>
            <a:pathLst>
              <a:path w="3416300" h="355600">
                <a:moveTo>
                  <a:pt x="0" y="0"/>
                </a:moveTo>
                <a:lnTo>
                  <a:pt x="3352800" y="0"/>
                </a:lnTo>
                <a:arcTo wR="63500" hR="63500" stAng="16200000" swAng="5400000"/>
                <a:lnTo>
                  <a:pt x="3416300" y="292100"/>
                </a:lnTo>
                <a:arcTo wR="63500" hR="63500" stAng="0" swAng="5400000"/>
                <a:lnTo>
                  <a:pt x="0" y="355600"/>
                </a:lnTo>
                <a:lnTo>
                  <a:pt x="0" y="0"/>
                </a:lnTo>
                <a:close/>
              </a:path>
            </a:pathLst>
          </a:custGeom>
          <a:solidFill>
            <a:srgbClr val="9CC07A"/>
          </a:solidFill>
          <a:ln/>
        </p:spPr>
        <p:txBody>
          <a:bodyPr/>
          <a:lstStyle/>
          <a:p>
            <a:endParaRPr lang="es-CO"/>
          </a:p>
        </p:txBody>
      </p:sp>
      <p:sp>
        <p:nvSpPr>
          <p:cNvPr id="15" name="Text 13"/>
          <p:cNvSpPr/>
          <p:nvPr/>
        </p:nvSpPr>
        <p:spPr>
          <a:xfrm>
            <a:off x="6083300" y="3517900"/>
            <a:ext cx="10668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E6B61"/>
                </a:solidFill>
                <a:latin typeface="Inter" pitchFamily="34" charset="0"/>
                <a:ea typeface="Inter" pitchFamily="34" charset="-122"/>
                <a:cs typeface="Inter" pitchFamily="34" charset="-120"/>
              </a:rPr>
              <a:t>15,1 %</a:t>
            </a:r>
            <a:endParaRPr lang="en-US" sz="1600" dirty="0"/>
          </a:p>
        </p:txBody>
      </p:sp>
      <p:sp>
        <p:nvSpPr>
          <p:cNvPr id="16" name="Text 14"/>
          <p:cNvSpPr/>
          <p:nvPr/>
        </p:nvSpPr>
        <p:spPr>
          <a:xfrm>
            <a:off x="812800" y="4000500"/>
            <a:ext cx="17018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C2620"/>
                </a:solidFill>
                <a:latin typeface="Inter" pitchFamily="34" charset="0"/>
                <a:ea typeface="Inter" pitchFamily="34" charset="-122"/>
                <a:cs typeface="Inter" pitchFamily="34" charset="-120"/>
              </a:rPr>
              <a:t>Nitrógeno</a:t>
            </a:r>
            <a:endParaRPr lang="en-US" sz="1600" dirty="0"/>
          </a:p>
        </p:txBody>
      </p:sp>
      <p:sp>
        <p:nvSpPr>
          <p:cNvPr id="17" name="Shape 15"/>
          <p:cNvSpPr/>
          <p:nvPr/>
        </p:nvSpPr>
        <p:spPr>
          <a:xfrm>
            <a:off x="2540000" y="3962400"/>
            <a:ext cx="2171700" cy="355600"/>
          </a:xfrm>
          <a:custGeom>
            <a:avLst/>
            <a:gdLst/>
            <a:ahLst/>
            <a:cxnLst/>
            <a:rect l="l" t="t" r="r" b="b"/>
            <a:pathLst>
              <a:path w="2171700" h="355600">
                <a:moveTo>
                  <a:pt x="0" y="0"/>
                </a:moveTo>
                <a:lnTo>
                  <a:pt x="2108200" y="0"/>
                </a:lnTo>
                <a:arcTo wR="63500" hR="63500" stAng="16200000" swAng="5400000"/>
                <a:lnTo>
                  <a:pt x="2171700" y="292100"/>
                </a:lnTo>
                <a:arcTo wR="63500" hR="63500" stAng="0" swAng="5400000"/>
                <a:lnTo>
                  <a:pt x="0" y="355600"/>
                </a:lnTo>
                <a:lnTo>
                  <a:pt x="0" y="0"/>
                </a:lnTo>
                <a:close/>
              </a:path>
            </a:pathLst>
          </a:custGeom>
          <a:solidFill>
            <a:srgbClr val="C9C3AE"/>
          </a:solidFill>
          <a:ln/>
        </p:spPr>
        <p:txBody>
          <a:bodyPr/>
          <a:lstStyle/>
          <a:p>
            <a:endParaRPr lang="es-CO"/>
          </a:p>
        </p:txBody>
      </p:sp>
      <p:sp>
        <p:nvSpPr>
          <p:cNvPr id="18" name="Text 16"/>
          <p:cNvSpPr/>
          <p:nvPr/>
        </p:nvSpPr>
        <p:spPr>
          <a:xfrm>
            <a:off x="4838700" y="4000500"/>
            <a:ext cx="10668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E6B61"/>
                </a:solidFill>
                <a:latin typeface="Inter" pitchFamily="34" charset="0"/>
                <a:ea typeface="Inter" pitchFamily="34" charset="-122"/>
                <a:cs typeface="Inter" pitchFamily="34" charset="-120"/>
              </a:rPr>
              <a:t>9,6 %</a:t>
            </a:r>
            <a:endParaRPr lang="en-US" sz="1600" dirty="0"/>
          </a:p>
        </p:txBody>
      </p:sp>
      <p:sp>
        <p:nvSpPr>
          <p:cNvPr id="19" name="Text 17"/>
          <p:cNvSpPr/>
          <p:nvPr/>
        </p:nvSpPr>
        <p:spPr>
          <a:xfrm>
            <a:off x="812800" y="4483100"/>
            <a:ext cx="17018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C2620"/>
                </a:solidFill>
                <a:latin typeface="Inter" pitchFamily="34" charset="0"/>
                <a:ea typeface="Inter" pitchFamily="34" charset="-122"/>
                <a:cs typeface="Inter" pitchFamily="34" charset="-120"/>
              </a:rPr>
              <a:t>Temperatura</a:t>
            </a:r>
            <a:endParaRPr lang="en-US" sz="1600" dirty="0"/>
          </a:p>
        </p:txBody>
      </p:sp>
      <p:sp>
        <p:nvSpPr>
          <p:cNvPr id="20" name="Shape 18"/>
          <p:cNvSpPr/>
          <p:nvPr/>
        </p:nvSpPr>
        <p:spPr>
          <a:xfrm>
            <a:off x="2540000" y="4445000"/>
            <a:ext cx="1631950" cy="355600"/>
          </a:xfrm>
          <a:custGeom>
            <a:avLst/>
            <a:gdLst/>
            <a:ahLst/>
            <a:cxnLst/>
            <a:rect l="l" t="t" r="r" b="b"/>
            <a:pathLst>
              <a:path w="1631950" h="355600">
                <a:moveTo>
                  <a:pt x="0" y="0"/>
                </a:moveTo>
                <a:lnTo>
                  <a:pt x="1568450" y="0"/>
                </a:lnTo>
                <a:arcTo wR="63500" hR="63500" stAng="16200000" swAng="5400000"/>
                <a:lnTo>
                  <a:pt x="1631950" y="292100"/>
                </a:lnTo>
                <a:arcTo wR="63500" hR="63500" stAng="0" swAng="5400000"/>
                <a:lnTo>
                  <a:pt x="0" y="355600"/>
                </a:lnTo>
                <a:lnTo>
                  <a:pt x="0" y="0"/>
                </a:lnTo>
                <a:close/>
              </a:path>
            </a:pathLst>
          </a:custGeom>
          <a:solidFill>
            <a:srgbClr val="C9C3AE"/>
          </a:solidFill>
          <a:ln/>
        </p:spPr>
        <p:txBody>
          <a:bodyPr/>
          <a:lstStyle/>
          <a:p>
            <a:endParaRPr lang="es-CO"/>
          </a:p>
        </p:txBody>
      </p:sp>
      <p:sp>
        <p:nvSpPr>
          <p:cNvPr id="21" name="Text 19"/>
          <p:cNvSpPr/>
          <p:nvPr/>
        </p:nvSpPr>
        <p:spPr>
          <a:xfrm>
            <a:off x="4298950" y="4483100"/>
            <a:ext cx="10668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E6B61"/>
                </a:solidFill>
                <a:latin typeface="Inter" pitchFamily="34" charset="0"/>
                <a:ea typeface="Inter" pitchFamily="34" charset="-122"/>
                <a:cs typeface="Inter" pitchFamily="34" charset="-120"/>
              </a:rPr>
              <a:t>7,2 %</a:t>
            </a:r>
            <a:endParaRPr lang="en-US" sz="1600" dirty="0"/>
          </a:p>
        </p:txBody>
      </p:sp>
      <p:sp>
        <p:nvSpPr>
          <p:cNvPr id="22" name="Text 20"/>
          <p:cNvSpPr/>
          <p:nvPr/>
        </p:nvSpPr>
        <p:spPr>
          <a:xfrm>
            <a:off x="812800" y="4965700"/>
            <a:ext cx="17018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C2620"/>
                </a:solidFill>
                <a:latin typeface="Inter" pitchFamily="34" charset="0"/>
                <a:ea typeface="Inter" pitchFamily="34" charset="-122"/>
                <a:cs typeface="Inter" pitchFamily="34" charset="-120"/>
              </a:rPr>
              <a:t>pH</a:t>
            </a:r>
            <a:endParaRPr lang="en-US" sz="1600" dirty="0"/>
          </a:p>
        </p:txBody>
      </p:sp>
      <p:sp>
        <p:nvSpPr>
          <p:cNvPr id="23" name="Shape 21"/>
          <p:cNvSpPr/>
          <p:nvPr/>
        </p:nvSpPr>
        <p:spPr>
          <a:xfrm>
            <a:off x="2540000" y="4927600"/>
            <a:ext cx="1155700" cy="355600"/>
          </a:xfrm>
          <a:custGeom>
            <a:avLst/>
            <a:gdLst/>
            <a:ahLst/>
            <a:cxnLst/>
            <a:rect l="l" t="t" r="r" b="b"/>
            <a:pathLst>
              <a:path w="1155700" h="355600">
                <a:moveTo>
                  <a:pt x="0" y="0"/>
                </a:moveTo>
                <a:lnTo>
                  <a:pt x="1092200" y="0"/>
                </a:lnTo>
                <a:arcTo wR="63500" hR="63500" stAng="16200000" swAng="5400000"/>
                <a:lnTo>
                  <a:pt x="1155700" y="292100"/>
                </a:lnTo>
                <a:arcTo wR="63500" hR="63500" stAng="0" swAng="5400000"/>
                <a:lnTo>
                  <a:pt x="0" y="355600"/>
                </a:lnTo>
                <a:lnTo>
                  <a:pt x="0" y="0"/>
                </a:lnTo>
                <a:close/>
              </a:path>
            </a:pathLst>
          </a:custGeom>
          <a:solidFill>
            <a:srgbClr val="C9C3AE"/>
          </a:solidFill>
          <a:ln/>
        </p:spPr>
        <p:txBody>
          <a:bodyPr/>
          <a:lstStyle/>
          <a:p>
            <a:endParaRPr lang="es-CO"/>
          </a:p>
        </p:txBody>
      </p:sp>
      <p:sp>
        <p:nvSpPr>
          <p:cNvPr id="24" name="Text 22"/>
          <p:cNvSpPr/>
          <p:nvPr/>
        </p:nvSpPr>
        <p:spPr>
          <a:xfrm>
            <a:off x="3822700" y="4965700"/>
            <a:ext cx="10668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E6B61"/>
                </a:solidFill>
                <a:latin typeface="Inter" pitchFamily="34" charset="0"/>
                <a:ea typeface="Inter" pitchFamily="34" charset="-122"/>
                <a:cs typeface="Inter" pitchFamily="34" charset="-120"/>
              </a:rPr>
              <a:t>5,1 %</a:t>
            </a:r>
            <a:endParaRPr lang="en-US" sz="1600" dirty="0"/>
          </a:p>
        </p:txBody>
      </p:sp>
      <p:sp>
        <p:nvSpPr>
          <p:cNvPr id="25" name="Shape 23"/>
          <p:cNvSpPr/>
          <p:nvPr/>
        </p:nvSpPr>
        <p:spPr>
          <a:xfrm>
            <a:off x="9144000" y="2159000"/>
            <a:ext cx="2235200" cy="2169160"/>
          </a:xfrm>
          <a:prstGeom prst="roundRect">
            <a:avLst>
              <a:gd name="adj" fmla="val 7026"/>
            </a:avLst>
          </a:prstGeom>
          <a:solidFill>
            <a:srgbClr val="1E3A2C"/>
          </a:solidFill>
          <a:ln/>
        </p:spPr>
        <p:txBody>
          <a:bodyPr/>
          <a:lstStyle/>
          <a:p>
            <a:endParaRPr lang="es-CO"/>
          </a:p>
        </p:txBody>
      </p:sp>
      <p:sp>
        <p:nvSpPr>
          <p:cNvPr id="26" name="Text 24"/>
          <p:cNvSpPr/>
          <p:nvPr/>
        </p:nvSpPr>
        <p:spPr>
          <a:xfrm>
            <a:off x="9398000" y="2413000"/>
            <a:ext cx="1779016"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E3A33B"/>
                </a:solidFill>
                <a:latin typeface="Fraunces" pitchFamily="18" charset="0"/>
                <a:ea typeface="Fraunces" pitchFamily="18" charset="-122"/>
                <a:cs typeface="Fraunces" pitchFamily="18" charset="-120"/>
              </a:rPr>
              <a:t>45 %</a:t>
            </a:r>
            <a:endParaRPr lang="en-US" sz="6000" dirty="0"/>
          </a:p>
        </p:txBody>
      </p:sp>
      <p:sp>
        <p:nvSpPr>
          <p:cNvPr id="27" name="Text 25"/>
          <p:cNvSpPr/>
          <p:nvPr/>
        </p:nvSpPr>
        <p:spPr>
          <a:xfrm>
            <a:off x="9398000" y="3251200"/>
            <a:ext cx="1779016" cy="84836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5F2EA"/>
                </a:solidFill>
                <a:latin typeface="Inter" pitchFamily="34" charset="0"/>
                <a:ea typeface="Inter" pitchFamily="34" charset="-122"/>
                <a:cs typeface="Inter" pitchFamily="34" charset="-120"/>
              </a:rPr>
              <a:t>de la importancia la suman lluvia y humedad</a:t>
            </a:r>
            <a:endParaRPr lang="en-US" sz="1600" dirty="0"/>
          </a:p>
        </p:txBody>
      </p:sp>
      <p:sp>
        <p:nvSpPr>
          <p:cNvPr id="28" name="Text 26"/>
          <p:cNvSpPr/>
          <p:nvPr/>
        </p:nvSpPr>
        <p:spPr>
          <a:xfrm>
            <a:off x="812800" y="6230621"/>
            <a:ext cx="8894485"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E7B71"/>
                </a:solidFill>
                <a:latin typeface="Inter" pitchFamily="34" charset="0"/>
                <a:ea typeface="Inter" pitchFamily="34" charset="-122"/>
                <a:cs typeface="Inter" pitchFamily="34" charset="-120"/>
              </a:rPr>
              <a:t>NEGOCIO   ·   DATOS   ·   PREPARACIÓN   ·   MODELADO   ·   </a:t>
            </a:r>
            <a:r>
              <a:rPr lang="en-US" sz="1200" b="1" kern="0" spc="100" dirty="0">
                <a:solidFill>
                  <a:srgbClr val="1E3A2C"/>
                </a:solidFill>
                <a:latin typeface="Inter" pitchFamily="34" charset="0"/>
                <a:ea typeface="Inter" pitchFamily="34" charset="-122"/>
                <a:cs typeface="Inter" pitchFamily="34" charset="-120"/>
              </a:rPr>
              <a:t>EVALUACIÓN</a:t>
            </a:r>
            <a:r>
              <a:rPr lang="en-US" sz="1200" kern="0" spc="100" dirty="0">
                <a:solidFill>
                  <a:srgbClr val="6E7B71"/>
                </a:solidFill>
                <a:latin typeface="Inter" pitchFamily="34" charset="0"/>
                <a:ea typeface="Inter" pitchFamily="34" charset="-122"/>
                <a:cs typeface="Inter" pitchFamily="34" charset="-120"/>
              </a:rPr>
              <a:t>   ·   DESPLIEGUE</a:t>
            </a:r>
            <a:endParaRPr lang="en-US" sz="1200" dirty="0"/>
          </a:p>
        </p:txBody>
      </p:sp>
      <p:sp>
        <p:nvSpPr>
          <p:cNvPr id="29" name="Text 27"/>
          <p:cNvSpPr/>
          <p:nvPr/>
        </p:nvSpPr>
        <p:spPr>
          <a:xfrm>
            <a:off x="10835513" y="6230621"/>
            <a:ext cx="54368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E7B71"/>
                </a:solidFill>
                <a:latin typeface="Inter" pitchFamily="34" charset="0"/>
                <a:ea typeface="Inter" pitchFamily="34" charset="-122"/>
                <a:cs typeface="Inter" pitchFamily="34" charset="-120"/>
              </a:rPr>
              <a:t>13 / 18</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7">
    <p:bg>
      <p:bgPr>
        <a:solidFill>
          <a:srgbClr val="E3A33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1905000"/>
            <a:ext cx="7194550" cy="1041400"/>
          </a:xfrm>
          <a:prstGeom prst="rect">
            <a:avLst/>
          </a:prstGeom>
          <a:noFill/>
          <a:ln/>
        </p:spPr>
        <p:txBody>
          <a:bodyPr wrap="square" lIns="0" tIns="0" rIns="0" bIns="0" rtlCol="0" anchor="t">
            <a:normAutofit/>
          </a:bodyPr>
          <a:lstStyle/>
          <a:p>
            <a:pPr marL="0" indent="0" algn="l">
              <a:lnSpc>
                <a:spcPts val="8000"/>
              </a:lnSpc>
              <a:buNone/>
            </a:pPr>
            <a:r>
              <a:rPr lang="en-US" sz="8000" b="1" i="0" dirty="0">
                <a:solidFill>
                  <a:srgbClr val="1E3A2C"/>
                </a:solidFill>
                <a:latin typeface="Fraunces" pitchFamily="18" charset="0"/>
                <a:ea typeface="Fraunces" pitchFamily="18" charset="-122"/>
                <a:cs typeface="Fraunces" pitchFamily="18" charset="-120"/>
              </a:rPr>
              <a:t>¿Preguntas?</a:t>
            </a:r>
            <a:endParaRPr lang="en-US" sz="8000" dirty="0"/>
          </a:p>
        </p:txBody>
      </p:sp>
      <p:sp>
        <p:nvSpPr>
          <p:cNvPr id="3" name="Text 1"/>
          <p:cNvSpPr/>
          <p:nvPr/>
        </p:nvSpPr>
        <p:spPr>
          <a:xfrm>
            <a:off x="812800" y="3175000"/>
            <a:ext cx="7194550" cy="41656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1E3A2C"/>
                </a:solidFill>
                <a:latin typeface="Inter" pitchFamily="34" charset="0"/>
                <a:ea typeface="Inter" pitchFamily="34" charset="-122"/>
                <a:cs typeface="Inter" pitchFamily="34" charset="-120"/>
              </a:rPr>
              <a:t>Gracias por vuestra atención</a:t>
            </a:r>
            <a:endParaRPr lang="en-US" sz="2200" dirty="0"/>
          </a:p>
        </p:txBody>
      </p:sp>
      <p:sp>
        <p:nvSpPr>
          <p:cNvPr id="4" name="Text 2"/>
          <p:cNvSpPr/>
          <p:nvPr/>
        </p:nvSpPr>
        <p:spPr>
          <a:xfrm>
            <a:off x="812800" y="4318000"/>
            <a:ext cx="7194550" cy="309880"/>
          </a:xfrm>
          <a:prstGeom prst="rect">
            <a:avLst/>
          </a:prstGeom>
          <a:noFill/>
          <a:ln/>
        </p:spPr>
        <p:txBody>
          <a:bodyPr wrap="square" lIns="0" tIns="0" rIns="0" bIns="0" rtlCol="0" anchor="t">
            <a:normAutofit/>
          </a:bodyPr>
          <a:lstStyle/>
          <a:p>
            <a:pPr marL="0" indent="0" algn="l">
              <a:lnSpc>
                <a:spcPts val="2240"/>
              </a:lnSpc>
              <a:buNone/>
            </a:pPr>
            <a:endParaRPr lang="en-US" sz="1600" dirty="0"/>
          </a:p>
        </p:txBody>
      </p:sp>
      <p:sp>
        <p:nvSpPr>
          <p:cNvPr id="5" name="Text 3"/>
          <p:cNvSpPr/>
          <p:nvPr/>
        </p:nvSpPr>
        <p:spPr>
          <a:xfrm>
            <a:off x="812800" y="4699000"/>
            <a:ext cx="7194550" cy="309880"/>
          </a:xfrm>
          <a:prstGeom prst="rect">
            <a:avLst/>
          </a:prstGeom>
          <a:noFill/>
          <a:ln/>
        </p:spPr>
        <p:txBody>
          <a:bodyPr wrap="square" lIns="0" tIns="0" rIns="0" bIns="0" rtlCol="0" anchor="t">
            <a:normAutofit/>
          </a:bodyPr>
          <a:lstStyle/>
          <a:p>
            <a:pPr marL="0" indent="0" algn="l">
              <a:lnSpc>
                <a:spcPts val="2240"/>
              </a:lnSpc>
              <a:buNone/>
            </a:pPr>
            <a:endParaRPr lang="en-US" sz="1600" dirty="0"/>
          </a:p>
        </p:txBody>
      </p:sp>
      <p:sp>
        <p:nvSpPr>
          <p:cNvPr id="6" name="Text 4"/>
          <p:cNvSpPr/>
          <p:nvPr/>
        </p:nvSpPr>
        <p:spPr>
          <a:xfrm>
            <a:off x="9093200" y="1905000"/>
            <a:ext cx="2286000" cy="2286000"/>
          </a:xfrm>
          <a:prstGeom prst="roundRect">
            <a:avLst>
              <a:gd name="adj" fmla="val 6667"/>
            </a:avLst>
          </a:prstGeom>
          <a:solidFill>
            <a:srgbClr val="F5F2EA"/>
          </a:solidFill>
          <a:ln/>
        </p:spPr>
        <p:txBody>
          <a:bodyPr wrap="square" lIns="182694" tIns="0" rIns="182694" bIns="0" rtlCol="0" anchor="ctr">
            <a:normAutofit/>
          </a:bodyPr>
          <a:lstStyle/>
          <a:p>
            <a:pPr marL="0" indent="0" algn="ctr">
              <a:lnSpc>
                <a:spcPts val="1680"/>
              </a:lnSpc>
              <a:buNone/>
            </a:pPr>
            <a:r>
              <a:rPr lang="en-US" sz="1200" dirty="0">
                <a:solidFill>
                  <a:srgbClr val="5E6B61"/>
                </a:solidFill>
                <a:latin typeface="Inter" pitchFamily="34" charset="0"/>
                <a:ea typeface="Inter" pitchFamily="34" charset="-122"/>
                <a:cs typeface="Inter" pitchFamily="34" charset="-120"/>
              </a:rPr>
              <a:t>[Código QR de la app]</a:t>
            </a:r>
            <a:endParaRPr lang="en-US" sz="1200" dirty="0"/>
          </a:p>
        </p:txBody>
      </p:sp>
      <p:sp>
        <p:nvSpPr>
          <p:cNvPr id="7" name="Text 5"/>
          <p:cNvSpPr/>
          <p:nvPr/>
        </p:nvSpPr>
        <p:spPr>
          <a:xfrm>
            <a:off x="9058910" y="4381500"/>
            <a:ext cx="2354580" cy="23876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E3A2C"/>
                </a:solidFill>
                <a:latin typeface="Inter" pitchFamily="34" charset="0"/>
                <a:ea typeface="Inter" pitchFamily="34" charset="-122"/>
                <a:cs typeface="Inter" pitchFamily="34" charset="-120"/>
              </a:rPr>
              <a:t>Escanea para probar la app</a:t>
            </a:r>
            <a:endParaRPr lang="en-US" sz="1200" dirty="0"/>
          </a:p>
        </p:txBody>
      </p:sp>
    </p:spTree>
  </p:cSld>
  <p:clrMapOvr>
    <a:masterClrMapping/>
  </p:clrMapOvr>
</p:sld>
</file>

<file path=ppt/theme/theme1.xml><?xml version="1.0" encoding="utf-8"?>
<a:theme xmlns:a="http://schemas.openxmlformats.org/drawingml/2006/main" name="Recomendador de cultivos con Machine Learning">
  <a:themeElements>
    <a:clrScheme name="Recomendador de cultivos con Machine Learning">
      <a:dk1>
        <a:srgbClr val="1C2620"/>
      </a:dk1>
      <a:lt1>
        <a:srgbClr val="F5F2EA"/>
      </a:lt1>
      <a:dk2>
        <a:srgbClr val="525953"/>
      </a:dk2>
      <a:lt2>
        <a:srgbClr val="DFDED6"/>
      </a:lt2>
      <a:accent1>
        <a:srgbClr val="9A5B0B"/>
      </a:accent1>
      <a:accent2>
        <a:srgbClr val="E3A33B"/>
      </a:accent2>
      <a:accent3>
        <a:srgbClr val="7DB55A"/>
      </a:accent3>
      <a:accent4>
        <a:srgbClr val="A6C586"/>
      </a:accent4>
      <a:accent5>
        <a:srgbClr val="CCD9B2"/>
      </a:accent5>
      <a:accent6>
        <a:srgbClr val="A7C687"/>
      </a:accent6>
      <a:hlink>
        <a:srgbClr val="0563C1"/>
      </a:hlink>
      <a:folHlink>
        <a:srgbClr val="954F72"/>
      </a:folHlink>
    </a:clrScheme>
    <a:fontScheme name="Recomendador de cultivos con Machine Learning">
      <a:majorFont>
        <a:latin typeface="Fraunce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TotalTime>
  <Words>1800</Words>
  <Application>Microsoft Office PowerPoint</Application>
  <PresentationFormat>Widescreen</PresentationFormat>
  <Paragraphs>222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Fraunces</vt:lpstr>
      <vt:lpstr>Inter</vt:lpstr>
      <vt:lpstr>Arial</vt:lpstr>
      <vt:lpstr>Recomendador de cultivos con Machine Learning</vt:lpstr>
      <vt:lpstr>Recomendador de cultivos</vt:lpstr>
      <vt:lpstr>Elegir mal el cultivo cuesta una cosecha entera</vt:lpstr>
      <vt:lpstr>Dadas las condiciones de una parcela, ¿qué cultivo tiene más probabilidades de funcionar?</vt:lpstr>
      <vt:lpstr>Recomendar el cultivo óptimo entre 22 opciones</vt:lpstr>
      <vt:lpstr>Crop Recommendation Dataset · Kaggle</vt:lpstr>
      <vt:lpstr>Datos completos y perfectamente equilibrados</vt:lpstr>
      <vt:lpstr>Cada cultivo tiene un perfil propio</vt:lpstr>
      <vt:lpstr>Del dataset al modelo en cuatro pasos</vt:lpstr>
      <vt:lpstr>Random Forest alcanza un 99,5 % de acierto</vt:lpstr>
      <vt:lpstr>Las 440 parcelas del examen, bien clasificadas</vt:lpstr>
      <vt:lpstr>El agua es el factor más determinante</vt:lpstr>
      <vt:lpstr>¿Preguntas?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Recomendador de cultivos con Machine Learning</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Fraunces
Copyright 2018 The Fraunces Project Authors (https://github.com/undercasetype/Fraunces)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Karen Garcia</cp:lastModifiedBy>
  <cp:revision>2</cp:revision>
  <dcterms:created xsi:type="dcterms:W3CDTF">2026-10-29T06:21:11Z</dcterms:created>
  <dcterms:modified xsi:type="dcterms:W3CDTF">2026-10-29T08:26:12Z</dcterms:modified>
</cp:coreProperties>
</file>